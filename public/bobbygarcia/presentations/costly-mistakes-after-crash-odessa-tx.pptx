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notesMasterIdLst>
    <p:notesMasterId r:id="rId5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notesMaster" Target="notesMasters/notesMaster1.xml"/><Relationship Id="rId56" Type="http://schemas.openxmlformats.org/officeDocument/2006/relationships/presProps" Target="presProps.xml"/><Relationship Id="rId57" Type="http://schemas.openxmlformats.org/officeDocument/2006/relationships/viewProps" Target="viewProps.xml"/><Relationship Id="rId58" Type="http://schemas.openxmlformats.org/officeDocument/2006/relationships/theme" Target="theme/theme1.xml"/><Relationship Id="rId5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65760"/>
            <a:ext cx="8229600" cy="365760"/>
          </a:xfrm>
          <a:prstGeom prst="rect">
            <a:avLst/>
          </a:prstGeom>
          <a:noFill/>
          <a:ln/>
        </p:spPr>
        <p:txBody>
          <a:bodyPr wrap="square" rtlCol="0" anchor="ctr"/>
          <a:lstStyle/>
          <a:p>
            <a:pPr indent="0" marL="0">
              <a:buNone/>
            </a:pPr>
            <a:r>
              <a:rPr lang="en-US" sz="1400" b="1" dirty="0">
                <a:solidFill>
                  <a:srgbClr val="C9A227"/>
                </a:solidFill>
              </a:rPr>
              <a:t>Law Office of Bobby Garcia</a:t>
            </a:r>
            <a:endParaRPr lang="en-US" sz="1400" dirty="0"/>
          </a:p>
        </p:txBody>
      </p:sp>
      <p:sp>
        <p:nvSpPr>
          <p:cNvPr id="3" name="Text 1"/>
          <p:cNvSpPr/>
          <p:nvPr/>
        </p:nvSpPr>
        <p:spPr>
          <a:xfrm>
            <a:off x="457200" y="1097280"/>
            <a:ext cx="8229600" cy="1645920"/>
          </a:xfrm>
          <a:prstGeom prst="rect">
            <a:avLst/>
          </a:prstGeom>
          <a:noFill/>
          <a:ln/>
        </p:spPr>
        <p:txBody>
          <a:bodyPr wrap="square" rtlCol="0" anchor="ctr"/>
          <a:lstStyle/>
          <a:p>
            <a:pPr indent="0" marL="0">
              <a:buNone/>
            </a:pPr>
            <a:r>
              <a:rPr lang="en-US" sz="2800" b="1" dirty="0">
                <a:solidFill>
                  <a:srgbClr val="FFFFFF"/>
                </a:solidFill>
              </a:rPr>
              <a:t>7 Costly Mistakes After a Crash in Odessa</a:t>
            </a:r>
            <a:endParaRPr lang="en-US" sz="2800" dirty="0"/>
          </a:p>
        </p:txBody>
      </p:sp>
      <p:sp>
        <p:nvSpPr>
          <p:cNvPr id="4" name="Text 2"/>
          <p:cNvSpPr/>
          <p:nvPr/>
        </p:nvSpPr>
        <p:spPr>
          <a:xfrm>
            <a:off x="457200" y="2834640"/>
            <a:ext cx="8229600" cy="457200"/>
          </a:xfrm>
          <a:prstGeom prst="rect">
            <a:avLst/>
          </a:prstGeom>
          <a:noFill/>
          <a:ln/>
        </p:spPr>
        <p:txBody>
          <a:bodyPr wrap="square" rtlCol="0" anchor="ctr"/>
          <a:lstStyle/>
          <a:p>
            <a:pPr indent="0" marL="0">
              <a:buNone/>
            </a:pPr>
            <a:r>
              <a:rPr lang="en-US" sz="1600" dirty="0">
                <a:solidFill>
                  <a:srgbClr val="B8C4D4"/>
                </a:solidFill>
              </a:rPr>
              <a:t>Odessa, TX</a:t>
            </a:r>
            <a:endParaRPr lang="en-US" sz="1600" dirty="0"/>
          </a:p>
        </p:txBody>
      </p:sp>
      <p:sp>
        <p:nvSpPr>
          <p:cNvPr id="5" name="Text 3"/>
          <p:cNvSpPr/>
          <p:nvPr/>
        </p:nvSpPr>
        <p:spPr>
          <a:xfrm>
            <a:off x="457200" y="4389120"/>
            <a:ext cx="8229600" cy="365760"/>
          </a:xfrm>
          <a:prstGeom prst="rect">
            <a:avLst/>
          </a:prstGeom>
          <a:noFill/>
          <a:ln/>
        </p:spPr>
        <p:txBody>
          <a:bodyPr wrap="square" rtlCol="0" anchor="ctr"/>
          <a:lstStyle/>
          <a:p>
            <a:pPr indent="0" marL="0">
              <a:buNone/>
            </a:pPr>
            <a:r>
              <a:rPr lang="en-US" sz="1200" dirty="0">
                <a:solidFill>
                  <a:srgbClr val="C9A227"/>
                </a:solidFill>
              </a:rPr>
              <a:t>Justice Made Simple · (956) 668-7400</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1: Skipping medical care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Delayed treatment is the top reason Odessa adjusters reduce offers. Visit Odessa area hospitals and emergency departments within 24 hours when pain exists.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2: Recorded statements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Adjusters are trained to elicit admissions. Politely decline until you understand injuries and coverage.</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3: Social media</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Posts, check-ins, and photos can contradict injury claims — even innocent updates.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4: Missing the 2-year deadline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courts enforce statutes strictly. Calendar your deadline the day you are injured.</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5: Accepting the first check</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include future medical care or wage loss on Major highways in Odessa.</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6: Poor crash report follow-up</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Obtain the official report and verify accuracy — errors on Odessa County / local jurisdiction reports are correctable in some cases.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7: DIY negotiation on serious injuries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Complex Odessa crashes involving surgery, permanent impairment, or commercial vehicles usually need professional evaluation.</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Why Odessa crash victims call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The Law Office of Bobby Garcia, P.C. has served South Texas and Houston families for more than 35 years. When a collision in Odessa disrupts your work, health, and finances, you need a trial team—not a call center. Bobby Garcia Law combines aggressive litigation with clear communication in English and Spanish, 24 hours a day.</a:t>
            </a:r>
            <a:endParaRPr lang="en-US" sz="1300" dirty="0"/>
          </a:p>
          <a:p>
            <a:pPr indent="0" marL="0">
              <a:buNone/>
            </a:pPr>
            <a:endParaRPr lang="en-US" sz="1300" dirty="0"/>
          </a:p>
          <a:p>
            <a:pPr indent="0" marL="0">
              <a:buNone/>
            </a:pPr>
            <a:r>
              <a:rPr lang="en-US" sz="1300" dirty="0">
                <a:solidFill>
                  <a:srgbClr val="E8EDF4"/>
                </a:solidFill>
              </a:rPr>
              <a:t>This guide explains Texas insurance rules, medical documentation, evidence preservation, and deadlines that apply after a crash in Odessa. It is Educational information from the Law Office of Bobby Garcia, P.C. — not legal ad…C. — not legal advice. Consult a licensed Texas attorney about your specific case.</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fault and comparative negligence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follows modified comparative negligence with a 51% bar. If you are more than 50% at fault, you may recover nothing. Insurers in Odessa routinely argue shared fault to reduce payouts—your documentation from day one shapes that fight.</a:t>
            </a:r>
            <a:endParaRPr lang="en-US" sz="1300" dirty="0"/>
          </a:p>
          <a:p>
            <a:pPr indent="0" marL="0">
              <a:buNone/>
            </a:pPr>
            <a:endParaRPr lang="en-US" sz="1300" dirty="0"/>
          </a:p>
          <a:p>
            <a:pPr indent="0" marL="0">
              <a:buNone/>
            </a:pPr>
            <a:r>
              <a:rPr lang="en-US" sz="1300" dirty="0">
                <a:solidFill>
                  <a:srgbClr val="E8EDF4"/>
                </a:solidFill>
              </a:rPr>
              <a:t>Police reports, witness statements, traffic citations, and scene photos help establish who failed to yield, follow speed limits, or maintain a safe distance. Never admit fault at the scene; describe facts calmly to officers.</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Texas fault and comparative negligence</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Request the responding officer's name and report number</a:t>
            </a:r>
            <a:endParaRPr lang="en-US" sz="1400" dirty="0"/>
          </a:p>
          <a:p>
            <a:pPr marL="342900" indent="-342900">
              <a:buSzPct val="100000"/>
              <a:buChar char="•"/>
            </a:pPr>
            <a:r>
              <a:rPr lang="en-US" sz="1400" dirty="0">
                <a:solidFill>
                  <a:srgbClr val="E8EDF4"/>
                </a:solidFill>
              </a:rPr>
              <a:t>Note weather, lighting, and road conditions</a:t>
            </a:r>
            <a:endParaRPr lang="en-US" sz="1400" dirty="0"/>
          </a:p>
          <a:p>
            <a:pPr marL="342900" indent="-342900">
              <a:buSzPct val="100000"/>
              <a:buChar char="•"/>
            </a:pPr>
            <a:r>
              <a:rPr lang="en-US" sz="1400" dirty="0">
                <a:solidFill>
                  <a:srgbClr val="E8EDF4"/>
                </a:solidFill>
              </a:rPr>
              <a:t>Identify surveillance cameras at nearby businesses</a:t>
            </a:r>
            <a:endParaRPr lang="en-US" sz="1400" dirty="0"/>
          </a:p>
          <a:p>
            <a:pPr marL="342900" indent="-342900">
              <a:buSzPct val="100000"/>
              <a:buChar char="•"/>
            </a:pPr>
            <a:r>
              <a:rPr lang="en-US" sz="1400" dirty="0">
                <a:solidFill>
                  <a:srgbClr val="E8EDF4"/>
                </a:solidFill>
              </a:rPr>
              <a:t>Save dashcam or phone video immediately</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Odessa insurance minimums and coverage gaps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requires minimum liability limits of 30/60/25 ($30,000 per person bodily injury, $60,000 per accident, $25,000 property damage). Many at-fault drivers carry only minimums—often insufficient for hospital bills after a serious Odessa collision.</a:t>
            </a:r>
            <a:endParaRPr lang="en-US" sz="1300" dirty="0"/>
          </a:p>
          <a:p>
            <a:pPr indent="0" marL="0">
              <a:buNone/>
            </a:pPr>
            <a:endParaRPr lang="en-US" sz="1300" dirty="0"/>
          </a:p>
          <a:p>
            <a:pPr indent="0" marL="0">
              <a:buNone/>
            </a:pPr>
            <a:r>
              <a:rPr lang="en-US" sz="1300" dirty="0">
                <a:solidFill>
                  <a:srgbClr val="E8EDF4"/>
                </a:solidFill>
              </a:rPr>
              <a:t>Review your declarations page for uninsured/underinsured motorist (UM/UIM), personal injury protection (PIP), and MedPay. These coverages can matter when the other driver has inadequate limits or flees the scene.</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treatment and documentation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scrutinize gaps in treatment. After an Odessa crash, seek care within 24 hours even if pain feels minor—whiplash, concussion, and internal bleeding may appear later. ER records, urgent care notes, and follow-up visits create a timeline insurers cannot easily dismiss.</a:t>
            </a:r>
            <a:endParaRPr lang="en-US" sz="1300" dirty="0"/>
          </a:p>
          <a:p>
            <a:pPr indent="0" marL="0">
              <a:buNone/>
            </a:pPr>
            <a:endParaRPr lang="en-US" sz="1300" dirty="0"/>
          </a:p>
          <a:p>
            <a:pPr indent="0" marL="0">
              <a:buNone/>
            </a:pPr>
            <a:r>
              <a:rPr lang="en-US" sz="1300" dirty="0">
                <a:solidFill>
                  <a:srgbClr val="E8EDF4"/>
                </a:solidFill>
              </a:rPr>
              <a:t>Keep itemized bills, imaging orders (X-ray, MRI, CT), prescriptions, physical therapy schedules, and mileage to appointments. Bobby Garcia Law's medical specialists help clients organize treatment records for maximum clarity.</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Medical treatment and documentation</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Photograph visible injuries on day one</a:t>
            </a:r>
            <a:endParaRPr lang="en-US" sz="1400" dirty="0"/>
          </a:p>
          <a:p>
            <a:pPr marL="342900" indent="-342900">
              <a:buSzPct val="100000"/>
              <a:buChar char="•"/>
            </a:pPr>
            <a:r>
              <a:rPr lang="en-US" sz="1400" dirty="0">
                <a:solidFill>
                  <a:srgbClr val="E8EDF4"/>
                </a:solidFill>
              </a:rPr>
              <a:t>Follow every discharge instruction</a:t>
            </a:r>
            <a:endParaRPr lang="en-US" sz="1400" dirty="0"/>
          </a:p>
          <a:p>
            <a:pPr marL="342900" indent="-342900">
              <a:buSzPct val="100000"/>
              <a:buChar char="•"/>
            </a:pPr>
            <a:r>
              <a:rPr lang="en-US" sz="1400" dirty="0">
                <a:solidFill>
                  <a:srgbClr val="E8EDF4"/>
                </a:solidFill>
              </a:rPr>
              <a:t>Do not sign blanket medical authorizations for adjusters</a:t>
            </a:r>
            <a:endParaRPr lang="en-US" sz="1400" dirty="0"/>
          </a:p>
          <a:p>
            <a:pPr marL="342900" indent="-342900">
              <a:buSzPct val="100000"/>
              <a:buChar char="•"/>
            </a:pPr>
            <a:r>
              <a:rPr lang="en-US" sz="1400" dirty="0">
                <a:solidFill>
                  <a:srgbClr val="E8EDF4"/>
                </a:solidFill>
              </a:rPr>
              <a:t>Track lost wages with employer documentation</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Dealing with claims adjusters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Adjusters represent the insurance company's financial interests—not yours. They may request recorded statements, broad medical releases, or quick settlements before you understand injury severity. In Odessa and across Texas, early statements can lock in descriptions that reduce fault on the other driver.</a:t>
            </a:r>
            <a:endParaRPr lang="en-US" sz="1300" dirty="0"/>
          </a:p>
          <a:p>
            <a:pPr indent="0" marL="0">
              <a:buNone/>
            </a:pPr>
            <a:endParaRPr lang="en-US" sz="1300" dirty="0"/>
          </a:p>
          <a:p>
            <a:pPr indent="0" marL="0">
              <a:buNone/>
            </a:pPr>
            <a:r>
              <a:rPr lang="en-US" sz="1300" dirty="0">
                <a:solidFill>
                  <a:srgbClr val="E8EDF4"/>
                </a:solidFill>
              </a:rPr>
              <a:t>Provide basic facts—date, time, location, vehicles involved. Decline recorded interviews until you understand coverage and injuries. Request denials, reservation-of-rights letters, and settlement offers in writing.</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Evidence preservation in the first 30 days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Skid marks fade, witnesses forget details, and business surveillance video is often deleted within 7–30 days. After a crash on Odessa highways or surface streets, send preservation letters to businesses, municipalities, and trucking companies when commercial vehicles are involved.</a:t>
            </a:r>
            <a:endParaRPr lang="en-US" sz="1300" dirty="0"/>
          </a:p>
          <a:p>
            <a:pPr indent="0" marL="0">
              <a:buNone/>
            </a:pPr>
            <a:endParaRPr lang="en-US" sz="1300" dirty="0"/>
          </a:p>
          <a:p>
            <a:pPr indent="0" marL="0">
              <a:buNone/>
            </a:pPr>
            <a:r>
              <a:rPr lang="en-US" sz="1300" dirty="0">
                <a:solidFill>
                  <a:srgbClr val="E8EDF4"/>
                </a:solidFill>
              </a:rPr>
              <a:t>Preserve repair estimates, rental receipts, tow bills, and cell-phone metadata. Social media posts about the crash or your activities can be used against you—avoid discussing fault or activities online.</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Commercial trucks and 18-wheelers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Odessa corridors see heavy commercial traffic. Trucking cases involve federal motor carrier rules, electronic logging devices, black-box data, and multiple defendants (driver, carrier, broker, shipper). Evidence spoils quickly—qualified counsel helps preserve downloads and driver qualification files.</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Statute of limitations and notice deadlines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Most Texas personal injury claims must be filed within two years of the injury date. Government-entity cases (city buses, state vehicles) may require earlier notice—sometimes within months. Missing a deadline can permanently bar recovery regardless of merit.</a:t>
            </a:r>
            <a:endParaRPr lang="en-US" sz="1300" dirty="0"/>
          </a:p>
          <a:p>
            <a:pPr indent="0" marL="0">
              <a:buNone/>
            </a:pPr>
            <a:endParaRPr lang="en-US" sz="1300" dirty="0"/>
          </a:p>
          <a:p>
            <a:pPr indent="0" marL="0">
              <a:buNone/>
            </a:pPr>
            <a:r>
              <a:rPr lang="en-US" sz="1300" dirty="0">
                <a:solidFill>
                  <a:srgbClr val="E8EDF4"/>
                </a:solidFill>
              </a:rPr>
              <a:t>Calendar your dates immediately after an Odessa crash. Bobby Garcia Law offers free consultations 24/7 at (956) 668-7400 to help you understand timelines—Justice Made Simple.</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Property damage and total-loss disputes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may undervalue repairs or declare a total loss based on comparables that favor the carrier. Obtain independent estimates from reputable body shops in Odessa. Review valuation reports for missing equipment, recent maintenance, and regional price adjustments.</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Lost wages and 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Document every missed shift, PTO day, and reduced earning capacity. Employers in Odessa can provide verification letters; self-employed victims should gather tax returns, contracts, and invoices showing lost opportunities. Vocational experts may be needed for long-term disability.</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Pain, suffering, and non-economic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allows recovery for physical pain, mental anguish, disfigurement, and loss of enjoyment of life when liability and causation are established. Journals documenting sleep loss, anxiety, and daily limitations can support these elements—start early after your Odessa collision.</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Settlement vs. litigation timeline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Minor property claims may resolve in weeks; injury claims with treatment, disputed fault, or commercial defendants often take months or years. Mediation, discovery, and expert depositions extend timelines but may increase recovery. Never sign a general release while treatment is ongoing.</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Working with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Bobby Garcia Law is a full-service trial firm—not a referral mill. Your team may include trial attorneys, legal analysts, medical specialists, and paralegals dedicated to your case. We serve Odessa, the Rio Grande Valley, Houston, and clients statewide. No win, no fee on qualifying personal injury matters.</a:t>
            </a:r>
            <a:endParaRPr lang="en-US" sz="1300" dirty="0"/>
          </a:p>
          <a:p>
            <a:pPr indent="0" marL="0">
              <a:buNone/>
            </a:pPr>
            <a:endParaRPr lang="en-US" sz="1300" dirty="0"/>
          </a:p>
          <a:p>
            <a:pPr indent="0" marL="0">
              <a:buNone/>
            </a:pPr>
            <a:r>
              <a:rPr lang="en-US" sz="1300" dirty="0">
                <a:solidFill>
                  <a:srgbClr val="E8EDF4"/>
                </a:solidFill>
              </a:rPr>
              <a:t>Call (956) 668-7400 anytime for a free confidential consultation. Se habla Español. Bobby está contigo—Justice Made Simple.</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Odessa crash investigation checklist (part 1)</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Odessa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Odessa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Odessa corridors—these facts often appear only on the first report draft.</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Odessa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Odessa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an Odessa collision.</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Odessa</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Odessa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Odessa crash investigation checklist (part 4)</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Odessa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Odessa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Odessa corridors—these facts often appear only on the first report draft.</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Odessa crash investigation checklist (part 7)</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Odessa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Odessa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Odessa corridors—these facts often appear only on the first report draft.</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Odessa crash investigation checklist (part 10)</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Odessa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Odessa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Odessa corridors—these facts often appear only on the first report draft.</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Odessa crash investigation checklist (part 1)</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Odessa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Odessa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Odessa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Odessa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Odessa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Odessa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Odessa</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Odessa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Odessa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Odessa clients can focus on recovery instead of chasing hospital billing departments.</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Odessa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Odessa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Odessa matter as if a jury will decide it, which improves settlement posture throughout the process.</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Odessa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Odessa case clearly before a judge and jury.</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Odessa crash investigation checklist (part 7)</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Odessa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Odessa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Odessa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Odessa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Odessa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Odessa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Odessa</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Odessa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Odessa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Odessa clients can focus on recovery instead of chasing hospital billing departments.</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Odessa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Odessa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Odessa matter as if a jury will decide it, which improves settlement posture throughout the process.</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Odessa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Odessa case clearly before a judge and jury.</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Odessa crash investigation checklist (part 13)</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Odessa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Odessa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Odessa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Odessa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Odessa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Odessa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Odessa</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Odessa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Odessa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Odessa clients can focus on recovery instead of chasing hospital billing departments.</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Is this legal advice for my Odessa case?</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No. This is general education from Law Office of Bobby Garcia, P.C., a  Consult a licensed attorney for advice about your situation.</a:t>
            </a:r>
            <a:endParaRPr lang="en-US" sz="13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is the statute of limitations in Texas?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2-year deadline, but exceptions apply. Verify your dates with counsel.</a:t>
            </a:r>
            <a:endParaRPr lang="en-US" sz="13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Should I give a recorded statement to insurance after an Odessa crash?</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Generally, provide basic facts only until you understand injuries and coverage. Recorded statements can be used against you—consult counsel before agreeing.</a:t>
            </a:r>
            <a:endParaRPr lang="en-US" sz="13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does no win, no fee mean?</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On qualifying personal injury cases, Bobby Garcia Law typically works on contingency—you owe no attorney fee unless we recover compensation. Confirm terms in your fee agreement.</a:t>
            </a:r>
            <a:endParaRPr lang="en-US" sz="13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How long do I have to file in Texas after an Odessa accident?</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two-year statute of limitations, but exceptions apply for minors, government entities, and wrongful death. Verify your dates immediately.</a:t>
            </a:r>
            <a:endParaRPr lang="en-US" sz="13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Does Bobby Garcia Law handle Spanish-speaking clients?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Yes. Our team is fully bilingual—English and Español—24 hours a day, seven days a week.</a:t>
            </a:r>
            <a:endParaRPr lang="en-US" sz="13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Where are Bobby Garcia Law offices?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5301 S McColl Rd, Edinburg, TX (Rio Grande Valley) and 16610 IH 45 South, Ste 200, The Woodlands, TX (Houston area).</a:t>
            </a:r>
            <a:endParaRPr lang="en-US" sz="13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1371600"/>
            <a:ext cx="8229600" cy="731520"/>
          </a:xfrm>
          <a:prstGeom prst="rect">
            <a:avLst/>
          </a:prstGeom>
          <a:noFill/>
          <a:ln/>
        </p:spPr>
        <p:txBody>
          <a:bodyPr wrap="square" rtlCol="0" anchor="ctr"/>
          <a:lstStyle/>
          <a:p>
            <a:pPr algn="ctr" indent="0" marL="0">
              <a:buNone/>
            </a:pPr>
            <a:r>
              <a:rPr lang="en-US" sz="2800" b="1" dirty="0">
                <a:solidFill>
                  <a:srgbClr val="FFFFFF"/>
                </a:solidFill>
              </a:rPr>
              <a:t>Free consultation 24/7</a:t>
            </a:r>
            <a:endParaRPr lang="en-US" sz="2800" dirty="0"/>
          </a:p>
        </p:txBody>
      </p:sp>
      <p:sp>
        <p:nvSpPr>
          <p:cNvPr id="3" name="Text 1"/>
          <p:cNvSpPr/>
          <p:nvPr/>
        </p:nvSpPr>
        <p:spPr>
          <a:xfrm>
            <a:off x="457200" y="2286000"/>
            <a:ext cx="8229600" cy="731520"/>
          </a:xfrm>
          <a:prstGeom prst="rect">
            <a:avLst/>
          </a:prstGeom>
          <a:noFill/>
          <a:ln/>
        </p:spPr>
        <p:txBody>
          <a:bodyPr wrap="square" rtlCol="0" anchor="ctr"/>
          <a:lstStyle/>
          <a:p>
            <a:pPr algn="ctr" indent="0" marL="0">
              <a:buNone/>
            </a:pPr>
            <a:r>
              <a:rPr lang="en-US" sz="3200" b="1" dirty="0">
                <a:solidFill>
                  <a:srgbClr val="C9A227"/>
                </a:solidFill>
              </a:rPr>
              <a:t>(956) 668-7400</a:t>
            </a:r>
            <a:endParaRPr lang="en-US" sz="3200" dirty="0"/>
          </a:p>
        </p:txBody>
      </p:sp>
      <p:sp>
        <p:nvSpPr>
          <p:cNvPr id="4" name="Text 2"/>
          <p:cNvSpPr/>
          <p:nvPr/>
        </p:nvSpPr>
        <p:spPr>
          <a:xfrm>
            <a:off x="457200" y="3200400"/>
            <a:ext cx="8229600" cy="457200"/>
          </a:xfrm>
          <a:prstGeom prst="rect">
            <a:avLst/>
          </a:prstGeom>
          <a:noFill/>
          <a:ln/>
        </p:spPr>
        <p:txBody>
          <a:bodyPr wrap="square" rtlCol="0" anchor="ctr"/>
          <a:lstStyle/>
          <a:p>
            <a:pPr algn="ctr" indent="0" marL="0">
              <a:buNone/>
            </a:pPr>
            <a:r>
              <a:rPr lang="en-US" sz="1400" dirty="0">
                <a:solidFill>
                  <a:srgbClr val="B8C4D4"/>
                </a:solidFill>
              </a:rPr>
              <a:t>Bobby Garcia Law · English &amp; Español</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53</Slides>
  <Notes>53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53</vt:i4>
      </vt:variant>
    </vt:vector>
  </HeadingPairs>
  <TitlesOfParts>
    <vt:vector size="5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7 Costly Mistakes After a Crash in Odessa</dc:title>
  <dc:subject>PptxGenJS Presentation</dc:subject>
  <dc:creator>Law Office of Bobby Garcia</dc:creator>
  <cp:lastModifiedBy>Law Office of Bobby Garcia</cp:lastModifiedBy>
  <cp:revision>1</cp:revision>
  <dcterms:created xsi:type="dcterms:W3CDTF">2026-06-02T21:39:48Z</dcterms:created>
  <dcterms:modified xsi:type="dcterms:W3CDTF">2026-06-02T21:39:48Z</dcterms:modified>
</cp:coreProperties>
</file>