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65760"/>
            <a:ext cx="8229600" cy="365760"/>
          </a:xfrm>
          <a:prstGeom prst="rect">
            <a:avLst/>
          </a:prstGeom>
          <a:noFill/>
          <a:ln/>
        </p:spPr>
        <p:txBody>
          <a:bodyPr wrap="square" rtlCol="0" anchor="ctr"/>
          <a:lstStyle/>
          <a:p>
            <a:pPr indent="0" marL="0">
              <a:buNone/>
            </a:pPr>
            <a:r>
              <a:rPr lang="en-US" sz="1400" b="1" dirty="0">
                <a:solidFill>
                  <a:srgbClr val="C9A227"/>
                </a:solidFill>
              </a:rPr>
              <a:t>Law Office of Bobby Garcia</a:t>
            </a:r>
            <a:endParaRPr lang="en-US" sz="1400" dirty="0"/>
          </a:p>
        </p:txBody>
      </p:sp>
      <p:sp>
        <p:nvSpPr>
          <p:cNvPr id="3" name="Text 1"/>
          <p:cNvSpPr/>
          <p:nvPr/>
        </p:nvSpPr>
        <p:spPr>
          <a:xfrm>
            <a:off x="457200" y="1097280"/>
            <a:ext cx="8229600" cy="1645920"/>
          </a:xfrm>
          <a:prstGeom prst="rect">
            <a:avLst/>
          </a:prstGeom>
          <a:noFill/>
          <a:ln/>
        </p:spPr>
        <p:txBody>
          <a:bodyPr wrap="square" rtlCol="0" anchor="ctr"/>
          <a:lstStyle/>
          <a:p>
            <a:pPr indent="0" marL="0">
              <a:buNone/>
            </a:pPr>
            <a:r>
              <a:rPr lang="en-US" sz="2800" b="1" dirty="0">
                <a:solidFill>
                  <a:srgbClr val="FFFFFF"/>
                </a:solidFill>
              </a:rPr>
              <a:t>Statute of Limitations in Texas — Irving Guide</a:t>
            </a:r>
            <a:endParaRPr lang="en-US" sz="2800" dirty="0"/>
          </a:p>
        </p:txBody>
      </p:sp>
      <p:sp>
        <p:nvSpPr>
          <p:cNvPr id="4" name="Text 2"/>
          <p:cNvSpPr/>
          <p:nvPr/>
        </p:nvSpPr>
        <p:spPr>
          <a:xfrm>
            <a:off x="457200" y="2834640"/>
            <a:ext cx="8229600" cy="457200"/>
          </a:xfrm>
          <a:prstGeom prst="rect">
            <a:avLst/>
          </a:prstGeom>
          <a:noFill/>
          <a:ln/>
        </p:spPr>
        <p:txBody>
          <a:bodyPr wrap="square" rtlCol="0" anchor="ctr"/>
          <a:lstStyle/>
          <a:p>
            <a:pPr indent="0" marL="0">
              <a:buNone/>
            </a:pPr>
            <a:r>
              <a:rPr lang="en-US" sz="1600" dirty="0">
                <a:solidFill>
                  <a:srgbClr val="B8C4D4"/>
                </a:solidFill>
              </a:rPr>
              <a:t>Irving, TX</a:t>
            </a:r>
            <a:endParaRPr lang="en-US" sz="1600" dirty="0"/>
          </a:p>
        </p:txBody>
      </p:sp>
      <p:sp>
        <p:nvSpPr>
          <p:cNvPr id="5" name="Text 3"/>
          <p:cNvSpPr/>
          <p:nvPr/>
        </p:nvSpPr>
        <p:spPr>
          <a:xfrm>
            <a:off x="457200" y="4389120"/>
            <a:ext cx="8229600" cy="365760"/>
          </a:xfrm>
          <a:prstGeom prst="rect">
            <a:avLst/>
          </a:prstGeom>
          <a:noFill/>
          <a:ln/>
        </p:spPr>
        <p:txBody>
          <a:bodyPr wrap="square" rtlCol="0" anchor="ctr"/>
          <a:lstStyle/>
          <a:p>
            <a:pPr indent="0" marL="0">
              <a:buNone/>
            </a:pPr>
            <a:r>
              <a:rPr lang="en-US" sz="1200" dirty="0">
                <a:solidFill>
                  <a:srgbClr val="C9A227"/>
                </a:solidFill>
              </a:rPr>
              <a:t>Justice Made Simple · (956) 668-7400</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deadline overview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car accident injury lawsuits must be filed within 2 years of the injury date. Missing this deadline can permanently bar recovery.</a:t>
            </a:r>
            <a:endParaRPr lang="en-US" sz="1300" dirty="0"/>
          </a:p>
          <a:p>
            <a:pPr indent="0" marL="0">
              <a:buNone/>
            </a:pPr>
            <a:endParaRPr lang="en-US" sz="1300" dirty="0"/>
          </a:p>
          <a:p>
            <a:pPr indent="0" marL="0">
              <a:buNone/>
            </a:pPr>
            <a:r>
              <a:rPr lang="en-US" sz="1300" dirty="0">
                <a:solidFill>
                  <a:srgbClr val="E8EDF4"/>
                </a:solidFill>
              </a:rPr>
              <a:t>Wrongful death, government-entity, and minor claimant cases may follow different rules. This article is educational — confirm your dates with a licensed Texas attorney.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waiting hurts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With ~thousands of annual crashes in the Irving area, evidence fades fast: skid marks wash away, witnesses relocate, and video is overwritten.</a:t>
            </a:r>
            <a:endParaRPr lang="en-US" sz="1300" dirty="0"/>
          </a:p>
          <a:p>
            <a:pPr indent="0" marL="0">
              <a:buNone/>
            </a:pPr>
            <a:endParaRPr lang="en-US" sz="1300" dirty="0"/>
          </a:p>
          <a:p>
            <a:pPr indent="0" marL="0">
              <a:buNone/>
            </a:pPr>
            <a:r>
              <a:rPr lang="en-US" sz="1300" dirty="0">
                <a:solidFill>
                  <a:srgbClr val="E8EDF4"/>
                </a:solidFill>
              </a:rPr>
              <a:t>Insurers begin building a file immediately. Early recorded statements can lock in descriptions before you know the full extent of injuries.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Comparative fault in Texas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51% bar rules. If you are found partially at fault, compensation may be reduced or barred depending on your percentage.</a:t>
            </a:r>
            <a:endParaRPr lang="en-US" sz="1300" dirty="0"/>
          </a:p>
          <a:p>
            <a:pPr indent="0" marL="0">
              <a:buNone/>
            </a:pPr>
            <a:endParaRPr lang="en-US" sz="1300" dirty="0"/>
          </a:p>
          <a:p>
            <a:pPr indent="0" marL="0">
              <a:buNone/>
            </a:pPr>
            <a:r>
              <a:rPr lang="en-US" sz="1300" dirty="0">
                <a:solidFill>
                  <a:srgbClr val="E8EDF4"/>
                </a:solidFill>
              </a:rPr>
              <a:t>Document everything that supports the other driver's negligence — traffic citations, 911 calls, and witness statements.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at least 30/60/25 in liability coverage (verify current law). Many at-fault drivers carry only minimums.</a:t>
            </a:r>
            <a:endParaRPr lang="en-US" sz="1300" dirty="0"/>
          </a:p>
          <a:p>
            <a:pPr indent="0" marL="0">
              <a:buNone/>
            </a:pPr>
            <a:endParaRPr lang="en-US" sz="1300" dirty="0"/>
          </a:p>
          <a:p>
            <a:pPr indent="0" marL="0">
              <a:buNone/>
            </a:pPr>
            <a:r>
              <a:rPr lang="en-US" sz="1300" dirty="0">
                <a:solidFill>
                  <a:srgbClr val="E8EDF4"/>
                </a:solidFill>
              </a:rPr>
              <a:t>Review your declarations page for UM/UIM, MedPay, and PIP. These coverages can matter when the other driver is uninsured or underinsured in Irving.</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Government and special entities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Claims involving city buses, state vehicles, or federal property often require earlier notice than the standard 2-year window. Missing a notice deadline can defeat an otherwise valid claim.</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Practical timeline for Irving residents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Day 1–7: Medical care, police report, insurer notification (facts only).</a:t>
            </a:r>
            <a:endParaRPr lang="en-US" sz="1300" dirty="0"/>
          </a:p>
          <a:p>
            <a:pPr indent="0" marL="0">
              <a:buNone/>
            </a:pPr>
            <a:endParaRPr lang="en-US" sz="1300" dirty="0"/>
          </a:p>
          <a:p>
            <a:pPr indent="0" marL="0">
              <a:buNone/>
            </a:pPr>
            <a:r>
              <a:rPr lang="en-US" sz="1300" dirty="0">
                <a:solidFill>
                  <a:srgbClr val="E8EDF4"/>
                </a:solidFill>
              </a:rPr>
              <a:t>Week 2–8: Follow treatment plans, gather bills, avoid social media posts about the crash.</a:t>
            </a:r>
            <a:endParaRPr lang="en-US" sz="1300" dirty="0"/>
          </a:p>
          <a:p>
            <a:pPr indent="0" marL="0">
              <a:buNone/>
            </a:pPr>
            <a:endParaRPr lang="en-US" sz="1300" dirty="0"/>
          </a:p>
          <a:p>
            <a:pPr indent="0" marL="0">
              <a:buNone/>
            </a:pPr>
            <a:r>
              <a:rPr lang="en-US" sz="1300" dirty="0">
                <a:solidFill>
                  <a:srgbClr val="E8EDF4"/>
                </a:solidFill>
              </a:rPr>
              <a:t>Month 2+: If injuries continue, consult counsel before accepting settlement releases.</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Why Irving crash victims call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The Law Office of Bobby Garcia, P.C. has served South Texas and Houston families for more than 35 years. When a collision in Irving disrupts your work, health, and finances, you need a trial team—not a call center. Bobby Garcia Law combines aggressive litigation with clear communication in English and Spanish, 24 hours a day.</a:t>
            </a:r>
            <a:endParaRPr lang="en-US" sz="1300" dirty="0"/>
          </a:p>
          <a:p>
            <a:pPr indent="0" marL="0">
              <a:buNone/>
            </a:pPr>
            <a:endParaRPr lang="en-US" sz="1300" dirty="0"/>
          </a:p>
          <a:p>
            <a:pPr indent="0" marL="0">
              <a:buNone/>
            </a:pPr>
            <a:r>
              <a:rPr lang="en-US" sz="1300" dirty="0">
                <a:solidFill>
                  <a:srgbClr val="E8EDF4"/>
                </a:solidFill>
              </a:rPr>
              <a:t>This guide explains Texas insurance rules, medical documentation, evidence preservation, and deadlines that apply after a crash in Irving. It is Educational information from the Law Office of Bobby Garcia, P.C. — not legal ad…C. — not legal advice. Consult a licensed Texas attorney about your specific case.</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Texas fault and comparative negligence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follows modified comparative negligence with a 51% bar. If you are more than 50% at fault, you may recover nothing. Insurers in Irving routinely argue shared fault to reduce payouts—your documentation from day one shapes that fight.</a:t>
            </a:r>
            <a:endParaRPr lang="en-US" sz="1300" dirty="0"/>
          </a:p>
          <a:p>
            <a:pPr indent="0" marL="0">
              <a:buNone/>
            </a:pPr>
            <a:endParaRPr lang="en-US" sz="1300" dirty="0"/>
          </a:p>
          <a:p>
            <a:pPr indent="0" marL="0">
              <a:buNone/>
            </a:pPr>
            <a:r>
              <a:rPr lang="en-US" sz="1300" dirty="0">
                <a:solidFill>
                  <a:srgbClr val="E8EDF4"/>
                </a:solidFill>
              </a:rPr>
              <a:t>Police reports, witness statements, traffic citations, and scene photos help establish who failed to yield, follow speed limits, or maintain a safe distance. Never admit fault at the scene; describe facts calmly to officers.</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Texas fault and comparative negligence</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Request the responding officer's name and report number</a:t>
            </a:r>
            <a:endParaRPr lang="en-US" sz="1400" dirty="0"/>
          </a:p>
          <a:p>
            <a:pPr marL="342900" indent="-342900">
              <a:buSzPct val="100000"/>
              <a:buChar char="•"/>
            </a:pPr>
            <a:r>
              <a:rPr lang="en-US" sz="1400" dirty="0">
                <a:solidFill>
                  <a:srgbClr val="E8EDF4"/>
                </a:solidFill>
              </a:rPr>
              <a:t>Note weather, lighting, and road conditions</a:t>
            </a:r>
            <a:endParaRPr lang="en-US" sz="1400" dirty="0"/>
          </a:p>
          <a:p>
            <a:pPr marL="342900" indent="-342900">
              <a:buSzPct val="100000"/>
              <a:buChar char="•"/>
            </a:pPr>
            <a:r>
              <a:rPr lang="en-US" sz="1400" dirty="0">
                <a:solidFill>
                  <a:srgbClr val="E8EDF4"/>
                </a:solidFill>
              </a:rPr>
              <a:t>Identify surveillance cameras at nearby businesses</a:t>
            </a:r>
            <a:endParaRPr lang="en-US" sz="1400" dirty="0"/>
          </a:p>
          <a:p>
            <a:pPr marL="342900" indent="-342900">
              <a:buSzPct val="100000"/>
              <a:buChar char="•"/>
            </a:pPr>
            <a:r>
              <a:rPr lang="en-US" sz="1400" dirty="0">
                <a:solidFill>
                  <a:srgbClr val="E8EDF4"/>
                </a:solidFill>
              </a:rPr>
              <a:t>Save dashcam or phone video immediately</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insurance minimums and coverage gaps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requires minimum liability limits of 30/60/25 ($30,000 per person bodily injury, $60,000 per accident, $25,000 property damage). Many at-fault drivers carry only minimums—often insufficient for hospital bills after a serious Irving collision.</a:t>
            </a:r>
            <a:endParaRPr lang="en-US" sz="1300" dirty="0"/>
          </a:p>
          <a:p>
            <a:pPr indent="0" marL="0">
              <a:buNone/>
            </a:pPr>
            <a:endParaRPr lang="en-US" sz="1300" dirty="0"/>
          </a:p>
          <a:p>
            <a:pPr indent="0" marL="0">
              <a:buNone/>
            </a:pPr>
            <a:r>
              <a:rPr lang="en-US" sz="1300" dirty="0">
                <a:solidFill>
                  <a:srgbClr val="E8EDF4"/>
                </a:solidFill>
              </a:rPr>
              <a:t>Review your declarations page for uninsured/underinsured motorist (UM/UIM), personal injury protection (PIP), and MedPay. These coverages can matter when the other driver has inadequate limits or flees the scene.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treatment and documentation</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scrutinize gaps in treatment. After an Irving crash, seek care within 24 hours even if pain feels minor—whiplash, concussion, and internal bleeding may appear later. ER records, urgent care notes, and follow-up visits create a timeline insurers cannot easily dismiss.</a:t>
            </a:r>
            <a:endParaRPr lang="en-US" sz="1300" dirty="0"/>
          </a:p>
          <a:p>
            <a:pPr indent="0" marL="0">
              <a:buNone/>
            </a:pPr>
            <a:endParaRPr lang="en-US" sz="1300" dirty="0"/>
          </a:p>
          <a:p>
            <a:pPr indent="0" marL="0">
              <a:buNone/>
            </a:pPr>
            <a:r>
              <a:rPr lang="en-US" sz="1300" dirty="0">
                <a:solidFill>
                  <a:srgbClr val="E8EDF4"/>
                </a:solidFill>
              </a:rPr>
              <a:t>Keep itemized bills, imaging orders (X-ray, MRI, CT), prescriptions, physical therapy schedules, and mileage to appointments. Bobby Garcia Law's medical specialists help clients organize treatment records for maximum clarity.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548640"/>
          </a:xfrm>
          <a:prstGeom prst="rect">
            <a:avLst/>
          </a:prstGeom>
          <a:noFill/>
          <a:ln/>
        </p:spPr>
        <p:txBody>
          <a:bodyPr wrap="square" rtlCol="0" anchor="ctr"/>
          <a:lstStyle/>
          <a:p>
            <a:pPr indent="0" marL="0">
              <a:buNone/>
            </a:pPr>
            <a:r>
              <a:rPr lang="en-US" sz="2000" b="1" dirty="0">
                <a:solidFill>
                  <a:srgbClr val="C9A227"/>
                </a:solidFill>
              </a:rPr>
              <a:t>Medical treatment and documentation</a:t>
            </a:r>
            <a:endParaRPr lang="en-US" sz="2000" dirty="0"/>
          </a:p>
        </p:txBody>
      </p:sp>
      <p:sp>
        <p:nvSpPr>
          <p:cNvPr id="3" name="Text 1"/>
          <p:cNvSpPr/>
          <p:nvPr/>
        </p:nvSpPr>
        <p:spPr>
          <a:xfrm>
            <a:off x="640080" y="1005840"/>
            <a:ext cx="8046720" cy="3657600"/>
          </a:xfrm>
          <a:prstGeom prst="rect">
            <a:avLst/>
          </a:prstGeom>
          <a:noFill/>
          <a:ln/>
        </p:spPr>
        <p:txBody>
          <a:bodyPr wrap="square" rtlCol="0" anchor="ctr"/>
          <a:lstStyle/>
          <a:p>
            <a:pPr marL="342900" indent="-342900">
              <a:buSzPct val="100000"/>
              <a:buChar char="•"/>
            </a:pPr>
            <a:r>
              <a:rPr lang="en-US" sz="1400" dirty="0">
                <a:solidFill>
                  <a:srgbClr val="E8EDF4"/>
                </a:solidFill>
              </a:rPr>
              <a:t>Photograph visible injuries on day one</a:t>
            </a:r>
            <a:endParaRPr lang="en-US" sz="1400" dirty="0"/>
          </a:p>
          <a:p>
            <a:pPr marL="342900" indent="-342900">
              <a:buSzPct val="100000"/>
              <a:buChar char="•"/>
            </a:pPr>
            <a:r>
              <a:rPr lang="en-US" sz="1400" dirty="0">
                <a:solidFill>
                  <a:srgbClr val="E8EDF4"/>
                </a:solidFill>
              </a:rPr>
              <a:t>Follow every discharge instruction</a:t>
            </a:r>
            <a:endParaRPr lang="en-US" sz="1400" dirty="0"/>
          </a:p>
          <a:p>
            <a:pPr marL="342900" indent="-342900">
              <a:buSzPct val="100000"/>
              <a:buChar char="•"/>
            </a:pPr>
            <a:r>
              <a:rPr lang="en-US" sz="1400" dirty="0">
                <a:solidFill>
                  <a:srgbClr val="E8EDF4"/>
                </a:solidFill>
              </a:rPr>
              <a:t>Do not sign blanket medical authorizations for adjusters</a:t>
            </a:r>
            <a:endParaRPr lang="en-US" sz="1400" dirty="0"/>
          </a:p>
          <a:p>
            <a:pPr marL="342900" indent="-342900">
              <a:buSzPct val="100000"/>
              <a:buChar char="•"/>
            </a:pPr>
            <a:r>
              <a:rPr lang="en-US" sz="1400" dirty="0">
                <a:solidFill>
                  <a:srgbClr val="E8EDF4"/>
                </a:solidFill>
              </a:rPr>
              <a:t>Track lost wages with employer documentation</a:t>
            </a:r>
            <a:endParaRPr lang="en-US" sz="1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Dealing with claims adjusters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Adjusters represent the insurance company's financial interests—not yours. They may request recorded statements, broad medical releases, or quick settlements before you understand injury severity. In Irving and across Texas, early statements can lock in descriptions that reduce fault on the other driver.</a:t>
            </a:r>
            <a:endParaRPr lang="en-US" sz="1300" dirty="0"/>
          </a:p>
          <a:p>
            <a:pPr indent="0" marL="0">
              <a:buNone/>
            </a:pPr>
            <a:endParaRPr lang="en-US" sz="1300" dirty="0"/>
          </a:p>
          <a:p>
            <a:pPr indent="0" marL="0">
              <a:buNone/>
            </a:pPr>
            <a:r>
              <a:rPr lang="en-US" sz="1300" dirty="0">
                <a:solidFill>
                  <a:srgbClr val="E8EDF4"/>
                </a:solidFill>
              </a:rPr>
              <a:t>Provide basic facts—date, time, location, vehicles involved. Decline recorded interviews until you understand coverage and injuries. Request denials, reservation-of-rights letters, and settlement offers in writing.</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Evidence preservation in the first 30 days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Skid marks fade, witnesses forget details, and business surveillance video is often deleted within 7–30 days. After a crash on Irving highways or surface streets, send preservation letters to businesses, municipalities, and trucking companies when commercial vehicles are involved.</a:t>
            </a:r>
            <a:endParaRPr lang="en-US" sz="1300" dirty="0"/>
          </a:p>
          <a:p>
            <a:pPr indent="0" marL="0">
              <a:buNone/>
            </a:pPr>
            <a:endParaRPr lang="en-US" sz="1300" dirty="0"/>
          </a:p>
          <a:p>
            <a:pPr indent="0" marL="0">
              <a:buNone/>
            </a:pPr>
            <a:r>
              <a:rPr lang="en-US" sz="1300" dirty="0">
                <a:solidFill>
                  <a:srgbClr val="E8EDF4"/>
                </a:solidFill>
              </a:rPr>
              <a:t>Preserve repair estimates, rental receipts, tow bills, and cell-phone metadata. Social media posts about the crash or your activities can be used against you—avoid discussing fault or activities online.</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Commercial trucks and 18-wheelers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Irving corridors see heavy commercial traffic. Trucking cases involve federal motor carrier rules, electronic logging devices, black-box data, and multiple defendants (driver, carrier, broker, shipper). Evidence spoils quickly—qualified counsel helps preserve downloads and driver qualification files.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Statute of limitations and notice deadlines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Most Texas personal injury claims must be filed within two years of the injury date. Government-entity cases (city buses, state vehicles) may require earlier notice—sometimes within months. Missing a deadline can permanently bar recovery regardless of merit.</a:t>
            </a:r>
            <a:endParaRPr lang="en-US" sz="1300" dirty="0"/>
          </a:p>
          <a:p>
            <a:pPr indent="0" marL="0">
              <a:buNone/>
            </a:pPr>
            <a:endParaRPr lang="en-US" sz="1300" dirty="0"/>
          </a:p>
          <a:p>
            <a:pPr indent="0" marL="0">
              <a:buNone/>
            </a:pPr>
            <a:r>
              <a:rPr lang="en-US" sz="1300" dirty="0">
                <a:solidFill>
                  <a:srgbClr val="E8EDF4"/>
                </a:solidFill>
              </a:rPr>
              <a:t>Calendar your dates immediately after an Irving crash. Bobby Garcia Law offers free consultations 24/7 at (956) 668-7400 to help you understand timelines—Justice Made Simple.</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Property damage and total-loss disputes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Insurers may undervalue repairs or declare a total loss based on comparables that favor the carrier. Obtain independent estimates from reputable body shops in Irving. Review valuation reports for missing equipment, recent maintenance, and regional price adjustments.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Lost wages and 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Document every missed shift, PTO day, and reduced earning capacity. Employers in Irving can provide verification letters; self-employed victims should gather tax returns, contracts, and invoices showing lost opportunities. Vocational experts may be needed for long-term disability.</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Pain, suffering, and non-economic damages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Texas allows recovery for physical pain, mental anguish, disfigurement, and loss of enjoyment of life when liability and causation are established. Journals documenting sleep loss, anxiety, and daily limitations can support these elements—start early after your Irving collision.</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Settlement vs. litigation timeline</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Minor property claims may resolve in weeks; injury claims with treatment, disputed fault, or commercial defendants often take months or years. Mediation, discovery, and expert depositions extend timelines but may increase recovery. Never sign a general release while treatment is ongoing.</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Working with Bobby Garcia Law</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Bobby Garcia Law is a full-service trial firm—not a referral mill. Your team may include trial attorneys, legal analysts, medical specialists, and paralegals dedicated to your case. We serve Irving, the Rio Grande Valley, Houston, and clients statewide. No win, no fee on qualifying personal injury matters.</a:t>
            </a:r>
            <a:endParaRPr lang="en-US" sz="1300" dirty="0"/>
          </a:p>
          <a:p>
            <a:pPr indent="0" marL="0">
              <a:buNone/>
            </a:pPr>
            <a:endParaRPr lang="en-US" sz="1300" dirty="0"/>
          </a:p>
          <a:p>
            <a:pPr indent="0" marL="0">
              <a:buNone/>
            </a:pPr>
            <a:r>
              <a:rPr lang="en-US" sz="1300" dirty="0">
                <a:solidFill>
                  <a:srgbClr val="E8EDF4"/>
                </a:solidFill>
              </a:rPr>
              <a:t>Call (956) 668-7400 anytime for a free confidential consultation. Se habla Español. Bobby está contigo—Justice Made Simple.</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an Irving collision.</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3)</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9)</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6)</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Negotiation strategy for Irving claims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Initial offers rarely reflect full medical specials, future care, and wage loss. Build a demand package with organized exhibits before serious talks begin.</a:t>
            </a:r>
            <a:endParaRPr lang="en-US" sz="1300" dirty="0"/>
          </a:p>
          <a:p>
            <a:pPr indent="0" marL="0">
              <a:buNone/>
            </a:pPr>
            <a:endParaRPr lang="en-US" sz="1300" dirty="0"/>
          </a:p>
          <a:p>
            <a:pPr indent="0" marL="0">
              <a:buNone/>
            </a:pPr>
            <a:r>
              <a:rPr lang="en-US" sz="1300" dirty="0">
                <a:solidFill>
                  <a:srgbClr val="E8EDF4"/>
                </a:solidFill>
              </a:rPr>
              <a:t>Statute-of-limitations deadlines and policy limits shape leverage. Identify all liable parties early—including employers, vendors, and municipal actors when applicable.</a:t>
            </a:r>
            <a:endParaRPr lang="en-US" sz="1300" dirty="0"/>
          </a:p>
          <a:p>
            <a:pPr indent="0" marL="0">
              <a:buNone/>
            </a:pPr>
            <a:endParaRPr lang="en-US" sz="1300" dirty="0"/>
          </a:p>
          <a:p>
            <a:pPr indent="0" marL="0">
              <a:buNone/>
            </a:pPr>
            <a:r>
              <a:rPr lang="en-US" sz="1300" dirty="0">
                <a:solidFill>
                  <a:srgbClr val="E8EDF4"/>
                </a:solidFill>
              </a:rPr>
              <a:t>Mediation can resolve Irving disputes without trial, but only when your file is trial-ready. Weak documentation invites low final numbers.</a:t>
            </a:r>
            <a:endParaRPr lang="en-US" sz="1300" dirty="0"/>
          </a:p>
          <a:p>
            <a:pPr indent="0" marL="0">
              <a:buNone/>
            </a:pPr>
            <a:endParaRPr lang="en-US" sz="1300" dirty="0"/>
          </a:p>
          <a:p>
            <a:pPr indent="0" marL="0">
              <a:buNone/>
            </a:pPr>
            <a:r>
              <a:rPr lang="en-US" sz="1300" dirty="0">
                <a:solidFill>
                  <a:srgbClr val="E8EDF4"/>
                </a:solidFill>
              </a:rPr>
              <a:t>Our team prepares every Irving matter as if a jury will decide it, which improves settlement posture throughout the process.</a:t>
            </a:r>
            <a:endParaRPr lang="en-US" sz="13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Trial readiness for serious Irving cases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Deposition summaries, exhibit lists, and witness outlines distinguish prepared trial teams from paper-file practices.</a:t>
            </a:r>
            <a:endParaRPr lang="en-US" sz="1300" dirty="0"/>
          </a:p>
          <a:p>
            <a:pPr indent="0" marL="0">
              <a:buNone/>
            </a:pPr>
            <a:endParaRPr lang="en-US" sz="1300" dirty="0"/>
          </a:p>
          <a:p>
            <a:pPr indent="0" marL="0">
              <a:buNone/>
            </a:pPr>
            <a:r>
              <a:rPr lang="en-US" sz="1300" dirty="0">
                <a:solidFill>
                  <a:srgbClr val="E8EDF4"/>
                </a:solidFill>
              </a:rPr>
              <a:t>Accident reconstruction, biomechanical opinions, and treating-physician testimony can be essential when liability or damages are contested.</a:t>
            </a:r>
            <a:endParaRPr lang="en-US" sz="1300" dirty="0"/>
          </a:p>
          <a:p>
            <a:pPr indent="0" marL="0">
              <a:buNone/>
            </a:pPr>
            <a:endParaRPr lang="en-US" sz="1300" dirty="0"/>
          </a:p>
          <a:p>
            <a:pPr indent="0" marL="0">
              <a:buNone/>
            </a:pPr>
            <a:r>
              <a:rPr lang="en-US" sz="1300" dirty="0">
                <a:solidFill>
                  <a:srgbClr val="E8EDF4"/>
                </a:solidFill>
              </a:rPr>
              <a:t>Venue rules and jury pools in Texas vary by county. Early case assessment should account for local attitudes toward injury claims.</a:t>
            </a:r>
            <a:endParaRPr lang="en-US" sz="1300" dirty="0"/>
          </a:p>
          <a:p>
            <a:pPr indent="0" marL="0">
              <a:buNone/>
            </a:pPr>
            <a:endParaRPr lang="en-US" sz="1300" dirty="0"/>
          </a:p>
          <a:p>
            <a:pPr indent="0" marL="0">
              <a:buNone/>
            </a:pPr>
            <a:r>
              <a:rPr lang="en-US" sz="1300" dirty="0">
                <a:solidFill>
                  <a:srgbClr val="E8EDF4"/>
                </a:solidFill>
              </a:rPr>
              <a:t>If settlement talks stall, Bobby Garcia Law is prepared to present your Irving case clearly before a judge and jury.</a:t>
            </a:r>
            <a:endParaRPr lang="en-US" sz="13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Irving crash investigation checklist (part 12)</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Officers in Irving document lane position, sight lines, and citation decisions that shape liability. Request the full report and supplement form within days—not weeks—while officers remember details.</a:t>
            </a:r>
            <a:endParaRPr lang="en-US" sz="1300" dirty="0"/>
          </a:p>
          <a:p>
            <a:pPr indent="0" marL="0">
              <a:buNone/>
            </a:pPr>
            <a:endParaRPr lang="en-US" sz="1300" dirty="0"/>
          </a:p>
          <a:p>
            <a:pPr indent="0" marL="0">
              <a:buNone/>
            </a:pPr>
            <a:r>
              <a:rPr lang="en-US" sz="1300" dirty="0">
                <a:solidFill>
                  <a:srgbClr val="E8EDF4"/>
                </a:solidFill>
              </a:rPr>
              <a:t>Independent measurements (skid length, debris field, rest position) support experts if litigation becomes necessary. Bobby Garcia Law preserves evidence early for Irving clients.</a:t>
            </a:r>
            <a:endParaRPr lang="en-US" sz="1300" dirty="0"/>
          </a:p>
          <a:p>
            <a:pPr indent="0" marL="0">
              <a:buNone/>
            </a:pPr>
            <a:endParaRPr lang="en-US" sz="1300" dirty="0"/>
          </a:p>
          <a:p>
            <a:pPr indent="0" marL="0">
              <a:buNone/>
            </a:pPr>
            <a:r>
              <a:rPr lang="en-US" sz="1300" dirty="0">
                <a:solidFill>
                  <a:srgbClr val="E8EDF4"/>
                </a:solidFill>
              </a:rPr>
              <a:t>Note construction zones, malfunctioning signals, and weather overlays on Irving corridors—these facts often appear only on the first report draft.</a:t>
            </a:r>
            <a:endParaRPr lang="en-US" sz="1300" dirty="0"/>
          </a:p>
          <a:p>
            <a:pPr indent="0" marL="0">
              <a:buNone/>
            </a:pPr>
            <a:endParaRPr lang="en-US" sz="1300" dirty="0"/>
          </a:p>
          <a:p>
            <a:pPr indent="0" marL="0">
              <a:buNone/>
            </a:pPr>
            <a:r>
              <a:rPr lang="en-US" sz="1300" dirty="0">
                <a:solidFill>
                  <a:srgbClr val="E8EDF4"/>
                </a:solidFill>
              </a:rPr>
              <a:t>Witness names and phone numbers fade quickly. Collect contact information at the scene and follow up within 48 hours while memories are fresh.</a:t>
            </a:r>
            <a:endParaRPr lang="en-US" sz="13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Insurance coverage review for Irving families</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Declarations pages list BI, PD, UM/UIM, MedPay, and PIP. Many Irving households discover usable coverage only after a thorough review with counsel.</a:t>
            </a:r>
            <a:endParaRPr lang="en-US" sz="1300" dirty="0"/>
          </a:p>
          <a:p>
            <a:pPr indent="0" marL="0">
              <a:buNone/>
            </a:pPr>
            <a:endParaRPr lang="en-US" sz="1300" dirty="0"/>
          </a:p>
          <a:p>
            <a:pPr indent="0" marL="0">
              <a:buNone/>
            </a:pPr>
            <a:r>
              <a:rPr lang="en-US" sz="1300" dirty="0">
                <a:solidFill>
                  <a:srgbClr val="E8EDF4"/>
                </a:solidFill>
              </a:rPr>
              <a:t>Stacking rules, household exclusions, and named-driver endorsements change outcomes. Do not assume the adjuster's first explanation is complete.</a:t>
            </a:r>
            <a:endParaRPr lang="en-US" sz="1300" dirty="0"/>
          </a:p>
          <a:p>
            <a:pPr indent="0" marL="0">
              <a:buNone/>
            </a:pPr>
            <a:endParaRPr lang="en-US" sz="1300" dirty="0"/>
          </a:p>
          <a:p>
            <a:pPr indent="0" marL="0">
              <a:buNone/>
            </a:pPr>
            <a:r>
              <a:rPr lang="en-US" sz="1300" dirty="0">
                <a:solidFill>
                  <a:srgbClr val="E8EDF4"/>
                </a:solidFill>
              </a:rPr>
              <a:t>Call Bobby Garcia Law at (956) 668-7400 for a free review of how Texas policies interact after a Irving collision.</a:t>
            </a:r>
            <a:endParaRPr lang="en-US" sz="1300" dirty="0"/>
          </a:p>
          <a:p>
            <a:pPr indent="0" marL="0">
              <a:buNone/>
            </a:pPr>
            <a:endParaRPr lang="en-US" sz="1300" dirty="0"/>
          </a:p>
          <a:p>
            <a:pPr indent="0" marL="0">
              <a:buNone/>
            </a:pPr>
            <a:r>
              <a:rPr lang="en-US" sz="1300" dirty="0">
                <a:solidFill>
                  <a:srgbClr val="E8EDF4"/>
                </a:solidFill>
              </a:rPr>
              <a:t>Subrogation letters and lien notices can reduce net recovery if not negotiated early. Identify health-plan and ER lien holders before settling.</a:t>
            </a:r>
            <a:endParaRPr lang="en-US" sz="13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Long-term recovery planning in Irving</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Serious injuries require vocational planning, home modifications, and future medical cost projections—not just current bills.</a:t>
            </a:r>
            <a:endParaRPr lang="en-US" sz="1300" dirty="0"/>
          </a:p>
          <a:p>
            <a:pPr indent="0" marL="0">
              <a:buNone/>
            </a:pPr>
            <a:endParaRPr lang="en-US" sz="1300" dirty="0"/>
          </a:p>
          <a:p>
            <a:pPr indent="0" marL="0">
              <a:buNone/>
            </a:pPr>
            <a:r>
              <a:rPr lang="en-US" sz="1300" dirty="0">
                <a:solidFill>
                  <a:srgbClr val="E8EDF4"/>
                </a:solidFill>
              </a:rPr>
              <a:t>Economists and life-care planners quantify damages when Irving cases involve permanent limitations. Start documenting limitations in daily journals early.</a:t>
            </a:r>
            <a:endParaRPr lang="en-US" sz="1300" dirty="0"/>
          </a:p>
          <a:p>
            <a:pPr indent="0" marL="0">
              <a:buNone/>
            </a:pPr>
            <a:endParaRPr lang="en-US" sz="1300" dirty="0"/>
          </a:p>
          <a:p>
            <a:pPr indent="0" marL="0">
              <a:buNone/>
            </a:pPr>
            <a:r>
              <a:rPr lang="en-US" sz="1300" dirty="0">
                <a:solidFill>
                  <a:srgbClr val="E8EDF4"/>
                </a:solidFill>
              </a:rPr>
              <a:t>School and employer accommodations may be legally required while you heal. Request written plans instead of informal verbal promises.</a:t>
            </a:r>
            <a:endParaRPr lang="en-US" sz="1300" dirty="0"/>
          </a:p>
          <a:p>
            <a:pPr indent="0" marL="0">
              <a:buNone/>
            </a:pPr>
            <a:endParaRPr lang="en-US" sz="1300" dirty="0"/>
          </a:p>
          <a:p>
            <a:pPr indent="0" marL="0">
              <a:buNone/>
            </a:pPr>
            <a:r>
              <a:rPr lang="en-US" sz="1300" dirty="0">
                <a:solidFill>
                  <a:srgbClr val="E8EDF4"/>
                </a:solidFill>
              </a:rPr>
              <a:t>Educational information from the Law Office of Bobby Garcia, P.C. — not legal advice. Consult a licensed Texas attorney about your specific case.</a:t>
            </a:r>
            <a:endParaRPr lang="en-US" sz="13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rtlCol="0" anchor="ctr"/>
          <a:lstStyle/>
          <a:p>
            <a:pPr indent="0" marL="0">
              <a:buNone/>
            </a:pPr>
            <a:r>
              <a:rPr lang="en-US" sz="2200" b="1" dirty="0">
                <a:solidFill>
                  <a:srgbClr val="C9A227"/>
                </a:solidFill>
              </a:rPr>
              <a:t>Medical documentation after a Irving injury</a:t>
            </a:r>
            <a:endParaRPr lang="en-US" sz="2200" dirty="0"/>
          </a:p>
        </p:txBody>
      </p:sp>
      <p:sp>
        <p:nvSpPr>
          <p:cNvPr id="3" name="Text 1"/>
          <p:cNvSpPr/>
          <p:nvPr/>
        </p:nvSpPr>
        <p:spPr>
          <a:xfrm>
            <a:off x="457200" y="1097280"/>
            <a:ext cx="8229600" cy="3474720"/>
          </a:xfrm>
          <a:prstGeom prst="rect">
            <a:avLst/>
          </a:prstGeom>
          <a:noFill/>
          <a:ln/>
        </p:spPr>
        <p:txBody>
          <a:bodyPr wrap="square" rtlCol="0" anchor="t"/>
          <a:lstStyle/>
          <a:p>
            <a:pPr indent="0" marL="0">
              <a:buNone/>
            </a:pPr>
            <a:r>
              <a:rPr lang="en-US" sz="1300" dirty="0">
                <a:solidFill>
                  <a:srgbClr val="E8EDF4"/>
                </a:solidFill>
              </a:rPr>
              <a:t>Emergency records, imaging orders, and follow-up notes establish causation timelines insurers scrutinize. Keep a folder of every bill and clinical summary.</a:t>
            </a:r>
            <a:endParaRPr lang="en-US" sz="1300" dirty="0"/>
          </a:p>
          <a:p>
            <a:pPr indent="0" marL="0">
              <a:buNone/>
            </a:pPr>
            <a:endParaRPr lang="en-US" sz="1300" dirty="0"/>
          </a:p>
          <a:p>
            <a:pPr indent="0" marL="0">
              <a:buNone/>
            </a:pPr>
            <a:r>
              <a:rPr lang="en-US" sz="1300" dirty="0">
                <a:solidFill>
                  <a:srgbClr val="E8EDF4"/>
                </a:solidFill>
              </a:rPr>
              <a:t>Gaps in treatment are often mischaracterized as proof injuries resolved. Explain missed appointments and reschedule promptly with documented reasons.</a:t>
            </a:r>
            <a:endParaRPr lang="en-US" sz="1300" dirty="0"/>
          </a:p>
          <a:p>
            <a:pPr indent="0" marL="0">
              <a:buNone/>
            </a:pPr>
            <a:endParaRPr lang="en-US" sz="1300" dirty="0"/>
          </a:p>
          <a:p>
            <a:pPr indent="0" marL="0">
              <a:buNone/>
            </a:pPr>
            <a:r>
              <a:rPr lang="en-US" sz="1300" dirty="0">
                <a:solidFill>
                  <a:srgbClr val="E8EDF4"/>
                </a:solidFill>
              </a:rPr>
              <a:t>Pain journals noting sleep disruption, mobility limits, and missed work help attorneys translate symptoms into measurable damages.</a:t>
            </a:r>
            <a:endParaRPr lang="en-US" sz="1300" dirty="0"/>
          </a:p>
          <a:p>
            <a:pPr indent="0" marL="0">
              <a:buNone/>
            </a:pPr>
            <a:endParaRPr lang="en-US" sz="1300" dirty="0"/>
          </a:p>
          <a:p>
            <a:pPr indent="0" marL="0">
              <a:buNone/>
            </a:pPr>
            <a:r>
              <a:rPr lang="en-US" sz="1300" dirty="0">
                <a:solidFill>
                  <a:srgbClr val="E8EDF4"/>
                </a:solidFill>
              </a:rPr>
              <a:t>Bobby Garcia Law coordinates records requests so Irving clients can focus on recovery instead of chasing hospital billing departments.</a:t>
            </a:r>
            <a:endParaRPr lang="en-US" sz="13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Is this legal advice for my Irving case?</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No. This is general education from Law Office of Bobby Garcia, P.C., a  Consult a licensed attorney for advice about your situation.</a:t>
            </a:r>
            <a:endParaRPr lang="en-US" sz="13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is the statute of limitations in Texas?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2-year deadline, but exceptions apply. Verify your dates with counsel.</a:t>
            </a:r>
            <a:endParaRPr lang="en-US" sz="13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Should I give a recorded statement to insurance after an Irving crash?</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Generally, provide basic facts only until you understand injuries and coverage. Recorded statements can be used against you—consult counsel before agreeing.</a:t>
            </a:r>
            <a:endParaRPr lang="en-US" sz="13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What does no win, no fee mean?</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On qualifying personal injury cases, Bobby Garcia Law typically works on contingency—you owe no attorney fee unless we recover compensation. Confirm terms in your fee agreement.</a:t>
            </a:r>
            <a:endParaRPr lang="en-US" sz="13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How long do I have to file in Texas after an Irving accident?</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Most injury claims face a two-year statute of limitations, but exceptions apply for minors, government entities, and wrongful death. Verify your dates immediately.</a:t>
            </a:r>
            <a:endParaRPr lang="en-US" sz="13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Does Bobby Garcia Law handle Spanish-speaking clients?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Yes. Our team is fully bilingual—English and Español—24 hours a day, seven days a week.</a:t>
            </a:r>
            <a:endParaRPr lang="en-US" sz="13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320040"/>
            <a:ext cx="8229600" cy="457200"/>
          </a:xfrm>
          <a:prstGeom prst="rect">
            <a:avLst/>
          </a:prstGeom>
          <a:noFill/>
          <a:ln/>
        </p:spPr>
        <p:txBody>
          <a:bodyPr wrap="square" rtlCol="0" anchor="ctr"/>
          <a:lstStyle/>
          <a:p>
            <a:pPr indent="0" marL="0">
              <a:buNone/>
            </a:pPr>
            <a:r>
              <a:rPr lang="en-US" sz="1800" b="1" dirty="0">
                <a:solidFill>
                  <a:srgbClr val="C9A227"/>
                </a:solidFill>
              </a:rPr>
              <a:t>FAQ</a:t>
            </a:r>
            <a:endParaRPr lang="en-US" sz="1800" dirty="0"/>
          </a:p>
        </p:txBody>
      </p:sp>
      <p:sp>
        <p:nvSpPr>
          <p:cNvPr id="3" name="Text 1"/>
          <p:cNvSpPr/>
          <p:nvPr/>
        </p:nvSpPr>
        <p:spPr>
          <a:xfrm>
            <a:off x="457200" y="914400"/>
            <a:ext cx="8229600" cy="914400"/>
          </a:xfrm>
          <a:prstGeom prst="rect">
            <a:avLst/>
          </a:prstGeom>
          <a:noFill/>
          <a:ln/>
        </p:spPr>
        <p:txBody>
          <a:bodyPr wrap="square" rtlCol="0" anchor="ctr"/>
          <a:lstStyle/>
          <a:p>
            <a:pPr indent="0" marL="0">
              <a:buNone/>
            </a:pPr>
            <a:r>
              <a:rPr lang="en-US" sz="1600" b="1" dirty="0">
                <a:solidFill>
                  <a:srgbClr val="FFFFFF"/>
                </a:solidFill>
              </a:rPr>
              <a:t>Where are Bobby Garcia Law offices?</a:t>
            </a:r>
            <a:endParaRPr lang="en-US" sz="1600" dirty="0"/>
          </a:p>
        </p:txBody>
      </p:sp>
      <p:sp>
        <p:nvSpPr>
          <p:cNvPr id="4" name="Text 2"/>
          <p:cNvSpPr/>
          <p:nvPr/>
        </p:nvSpPr>
        <p:spPr>
          <a:xfrm>
            <a:off x="457200" y="1920240"/>
            <a:ext cx="8229600" cy="2560320"/>
          </a:xfrm>
          <a:prstGeom prst="rect">
            <a:avLst/>
          </a:prstGeom>
          <a:noFill/>
          <a:ln/>
        </p:spPr>
        <p:txBody>
          <a:bodyPr wrap="square" rtlCol="0" anchor="ctr"/>
          <a:lstStyle/>
          <a:p>
            <a:pPr indent="0" marL="0">
              <a:buNone/>
            </a:pPr>
            <a:r>
              <a:rPr lang="en-US" sz="1300" dirty="0">
                <a:solidFill>
                  <a:srgbClr val="E8EDF4"/>
                </a:solidFill>
              </a:rPr>
              <a:t>5301 S McColl Rd, Edinburg, TX (Rio Grande Valley) and 16610 IH 45 South, Ste 200, The Woodlands, TX (Houston area).</a:t>
            </a:r>
            <a:endParaRPr lang="en-US" sz="13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0A1220"/>
        </a:solidFill>
      </p:bgPr>
    </p:bg>
    <p:spTree>
      <p:nvGrpSpPr>
        <p:cNvPr id="1" name=""/>
        <p:cNvGrpSpPr/>
        <p:nvPr/>
      </p:nvGrpSpPr>
      <p:grpSpPr>
        <a:xfrm>
          <a:off x="0" y="0"/>
          <a:ext cx="0" cy="0"/>
          <a:chOff x="0" y="0"/>
          <a:chExt cx="0" cy="0"/>
        </a:xfrm>
      </p:grpSpPr>
      <p:sp>
        <p:nvSpPr>
          <p:cNvPr id="2" name="Text 0"/>
          <p:cNvSpPr/>
          <p:nvPr/>
        </p:nvSpPr>
        <p:spPr>
          <a:xfrm>
            <a:off x="457200" y="1371600"/>
            <a:ext cx="8229600" cy="731520"/>
          </a:xfrm>
          <a:prstGeom prst="rect">
            <a:avLst/>
          </a:prstGeom>
          <a:noFill/>
          <a:ln/>
        </p:spPr>
        <p:txBody>
          <a:bodyPr wrap="square" rtlCol="0" anchor="ctr"/>
          <a:lstStyle/>
          <a:p>
            <a:pPr algn="ctr" indent="0" marL="0">
              <a:buNone/>
            </a:pPr>
            <a:r>
              <a:rPr lang="en-US" sz="2800" b="1" dirty="0">
                <a:solidFill>
                  <a:srgbClr val="FFFFFF"/>
                </a:solidFill>
              </a:rPr>
              <a:t>Free consultation 24/7</a:t>
            </a:r>
            <a:endParaRPr lang="en-US" sz="2800" dirty="0"/>
          </a:p>
        </p:txBody>
      </p:sp>
      <p:sp>
        <p:nvSpPr>
          <p:cNvPr id="3" name="Text 1"/>
          <p:cNvSpPr/>
          <p:nvPr/>
        </p:nvSpPr>
        <p:spPr>
          <a:xfrm>
            <a:off x="457200" y="2286000"/>
            <a:ext cx="8229600" cy="731520"/>
          </a:xfrm>
          <a:prstGeom prst="rect">
            <a:avLst/>
          </a:prstGeom>
          <a:noFill/>
          <a:ln/>
        </p:spPr>
        <p:txBody>
          <a:bodyPr wrap="square" rtlCol="0" anchor="ctr"/>
          <a:lstStyle/>
          <a:p>
            <a:pPr algn="ctr" indent="0" marL="0">
              <a:buNone/>
            </a:pPr>
            <a:r>
              <a:rPr lang="en-US" sz="3200" b="1" dirty="0">
                <a:solidFill>
                  <a:srgbClr val="C9A227"/>
                </a:solidFill>
              </a:rPr>
              <a:t>(956) 668-7400</a:t>
            </a:r>
            <a:endParaRPr lang="en-US" sz="3200" dirty="0"/>
          </a:p>
        </p:txBody>
      </p:sp>
      <p:sp>
        <p:nvSpPr>
          <p:cNvPr id="4" name="Text 2"/>
          <p:cNvSpPr/>
          <p:nvPr/>
        </p:nvSpPr>
        <p:spPr>
          <a:xfrm>
            <a:off x="457200" y="3200400"/>
            <a:ext cx="8229600" cy="457200"/>
          </a:xfrm>
          <a:prstGeom prst="rect">
            <a:avLst/>
          </a:prstGeom>
          <a:noFill/>
          <a:ln/>
        </p:spPr>
        <p:txBody>
          <a:bodyPr wrap="square" rtlCol="0" anchor="ctr"/>
          <a:lstStyle/>
          <a:p>
            <a:pPr algn="ctr" indent="0" marL="0">
              <a:buNone/>
            </a:pPr>
            <a:r>
              <a:rPr lang="en-US" sz="1400" dirty="0">
                <a:solidFill>
                  <a:srgbClr val="B8C4D4"/>
                </a:solidFill>
              </a:rPr>
              <a:t>Bobby Garcia Law · English &amp; Español</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Statute of Limitations in Texas — Irving Guide</dc:title>
  <dc:subject>PptxGenJS Presentation</dc:subject>
  <dc:creator>Law Office of Bobby Garcia</dc:creator>
  <cp:lastModifiedBy>Law Office of Bobby Garcia</cp:lastModifiedBy>
  <cp:revision>1</cp:revision>
  <dcterms:created xsi:type="dcterms:W3CDTF">2026-06-02T21:39:48Z</dcterms:created>
  <dcterms:modified xsi:type="dcterms:W3CDTF">2026-06-02T21:39:48Z</dcterms:modified>
</cp:coreProperties>
</file>