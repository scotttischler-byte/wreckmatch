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Lst>
  <p:notesMasterIdLst>
    <p:notesMasterId r:id="rId53"/>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notesMaster" Target="notesMasters/notesMaster1.xml"/><Relationship Id="rId54" Type="http://schemas.openxmlformats.org/officeDocument/2006/relationships/presProps" Target="presProps.xml"/><Relationship Id="rId55" Type="http://schemas.openxmlformats.org/officeDocument/2006/relationships/viewProps" Target="viewProps.xml"/><Relationship Id="rId56" Type="http://schemas.openxmlformats.org/officeDocument/2006/relationships/theme" Target="theme/theme1.xml"/><Relationship Id="rId5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65760"/>
            <a:ext cx="8229600" cy="365760"/>
          </a:xfrm>
          <a:prstGeom prst="rect">
            <a:avLst/>
          </a:prstGeom>
          <a:noFill/>
          <a:ln/>
        </p:spPr>
        <p:txBody>
          <a:bodyPr wrap="square" rtlCol="0" anchor="ctr"/>
          <a:lstStyle/>
          <a:p>
            <a:pPr indent="0" marL="0">
              <a:buNone/>
            </a:pPr>
            <a:r>
              <a:rPr lang="en-US" sz="1400" b="1" dirty="0">
                <a:solidFill>
                  <a:srgbClr val="C9A227"/>
                </a:solidFill>
              </a:rPr>
              <a:t>Law Office of Bobby Garcia</a:t>
            </a:r>
            <a:endParaRPr lang="en-US" sz="1400" dirty="0"/>
          </a:p>
        </p:txBody>
      </p:sp>
      <p:sp>
        <p:nvSpPr>
          <p:cNvPr id="3" name="Text 1"/>
          <p:cNvSpPr/>
          <p:nvPr/>
        </p:nvSpPr>
        <p:spPr>
          <a:xfrm>
            <a:off x="457200" y="1097280"/>
            <a:ext cx="8229600" cy="1645920"/>
          </a:xfrm>
          <a:prstGeom prst="rect">
            <a:avLst/>
          </a:prstGeom>
          <a:noFill/>
          <a:ln/>
        </p:spPr>
        <p:txBody>
          <a:bodyPr wrap="square" rtlCol="0" anchor="ctr"/>
          <a:lstStyle/>
          <a:p>
            <a:pPr indent="0" marL="0">
              <a:buNone/>
            </a:pPr>
            <a:r>
              <a:rPr lang="en-US" sz="2800" b="1" dirty="0">
                <a:solidFill>
                  <a:srgbClr val="FFFFFF"/>
                </a:solidFill>
              </a:rPr>
              <a:t>What to Do After a Car Accident in Killeen</a:t>
            </a:r>
            <a:endParaRPr lang="en-US" sz="2800" dirty="0"/>
          </a:p>
        </p:txBody>
      </p:sp>
      <p:sp>
        <p:nvSpPr>
          <p:cNvPr id="4" name="Text 2"/>
          <p:cNvSpPr/>
          <p:nvPr/>
        </p:nvSpPr>
        <p:spPr>
          <a:xfrm>
            <a:off x="457200" y="2834640"/>
            <a:ext cx="8229600" cy="457200"/>
          </a:xfrm>
          <a:prstGeom prst="rect">
            <a:avLst/>
          </a:prstGeom>
          <a:noFill/>
          <a:ln/>
        </p:spPr>
        <p:txBody>
          <a:bodyPr wrap="square" rtlCol="0" anchor="ctr"/>
          <a:lstStyle/>
          <a:p>
            <a:pPr indent="0" marL="0">
              <a:buNone/>
            </a:pPr>
            <a:r>
              <a:rPr lang="en-US" sz="1600" dirty="0">
                <a:solidFill>
                  <a:srgbClr val="B8C4D4"/>
                </a:solidFill>
              </a:rPr>
              <a:t>Killeen, TX</a:t>
            </a:r>
            <a:endParaRPr lang="en-US" sz="1600" dirty="0"/>
          </a:p>
        </p:txBody>
      </p:sp>
      <p:sp>
        <p:nvSpPr>
          <p:cNvPr id="5" name="Text 3"/>
          <p:cNvSpPr/>
          <p:nvPr/>
        </p:nvSpPr>
        <p:spPr>
          <a:xfrm>
            <a:off x="457200" y="4389120"/>
            <a:ext cx="8229600" cy="365760"/>
          </a:xfrm>
          <a:prstGeom prst="rect">
            <a:avLst/>
          </a:prstGeom>
          <a:noFill/>
          <a:ln/>
        </p:spPr>
        <p:txBody>
          <a:bodyPr wrap="square" rtlCol="0" anchor="ctr"/>
          <a:lstStyle/>
          <a:p>
            <a:pPr indent="0" marL="0">
              <a:buNone/>
            </a:pPr>
            <a:r>
              <a:rPr lang="en-US" sz="1200" dirty="0">
                <a:solidFill>
                  <a:srgbClr val="C9A227"/>
                </a:solidFill>
              </a:rPr>
              <a:t>Justice Made Simple · (956) 668-7400</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First 10 minutes: safety and 911</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A collision on Major highways and arterials in Killeen or surface streets in Killeen can escalate quickly. If vehicles are drivable and it is safe, move to a shoulder or parking lot. Turn on hazard lights.</a:t>
            </a:r>
            <a:endParaRPr lang="en-US" sz="1300" dirty="0"/>
          </a:p>
          <a:p>
            <a:pPr indent="0" marL="0">
              <a:buNone/>
            </a:pPr>
            <a:endParaRPr lang="en-US" sz="1300" dirty="0"/>
          </a:p>
          <a:p>
            <a:pPr indent="0" marL="0">
              <a:buNone/>
            </a:pPr>
            <a:r>
              <a:rPr lang="en-US" sz="1300" dirty="0">
                <a:solidFill>
                  <a:srgbClr val="E8EDF4"/>
                </a:solidFill>
              </a:rPr>
              <a:t>Call 911 when anyone reports pain, airbags deploy, fluids leak, or traffic is blocked. Killeen County / local jurisdiction dispatch will route Killeen police or state patrol depending on location.</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548640"/>
          </a:xfrm>
          <a:prstGeom prst="rect">
            <a:avLst/>
          </a:prstGeom>
          <a:noFill/>
          <a:ln/>
        </p:spPr>
        <p:txBody>
          <a:bodyPr wrap="square" rtlCol="0" anchor="ctr"/>
          <a:lstStyle/>
          <a:p>
            <a:pPr indent="0" marL="0">
              <a:buNone/>
            </a:pPr>
            <a:r>
              <a:rPr lang="en-US" sz="2000" b="1" dirty="0">
                <a:solidFill>
                  <a:srgbClr val="C9A227"/>
                </a:solidFill>
              </a:rPr>
              <a:t>First 10 minutes: safety and 911</a:t>
            </a:r>
            <a:endParaRPr lang="en-US" sz="2000" dirty="0"/>
          </a:p>
        </p:txBody>
      </p:sp>
      <p:sp>
        <p:nvSpPr>
          <p:cNvPr id="3" name="Text 1"/>
          <p:cNvSpPr/>
          <p:nvPr/>
        </p:nvSpPr>
        <p:spPr>
          <a:xfrm>
            <a:off x="640080" y="1005840"/>
            <a:ext cx="8046720" cy="3657600"/>
          </a:xfrm>
          <a:prstGeom prst="rect">
            <a:avLst/>
          </a:prstGeom>
          <a:noFill/>
          <a:ln/>
        </p:spPr>
        <p:txBody>
          <a:bodyPr wrap="square" rtlCol="0" anchor="ctr"/>
          <a:lstStyle/>
          <a:p>
            <a:pPr marL="342900" indent="-342900">
              <a:buSzPct val="100000"/>
              <a:buChar char="•"/>
            </a:pPr>
            <a:r>
              <a:rPr lang="en-US" sz="1400" dirty="0">
                <a:solidFill>
                  <a:srgbClr val="E8EDF4"/>
                </a:solidFill>
              </a:rPr>
              <a:t>Stay inside the vehicle with seatbelts on if traffic passes closely at highway speed</a:t>
            </a:r>
            <a:endParaRPr lang="en-US" sz="1400" dirty="0"/>
          </a:p>
          <a:p>
            <a:pPr marL="342900" indent="-342900">
              <a:buSzPct val="100000"/>
              <a:buChar char="•"/>
            </a:pPr>
            <a:r>
              <a:rPr lang="en-US" sz="1400" dirty="0">
                <a:solidFill>
                  <a:srgbClr val="E8EDF4"/>
                </a:solidFill>
              </a:rPr>
              <a:t>Do not admit fault — describe facts only</a:t>
            </a:r>
            <a:endParaRPr lang="en-US" sz="1400" dirty="0"/>
          </a:p>
          <a:p>
            <a:pPr marL="342900" indent="-342900">
              <a:buSzPct val="100000"/>
              <a:buChar char="•"/>
            </a:pPr>
            <a:r>
              <a:rPr lang="en-US" sz="1400" dirty="0">
                <a:solidFill>
                  <a:srgbClr val="E8EDF4"/>
                </a:solidFill>
              </a:rPr>
              <a:t>Request a crash report number before officers leave</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Killeen documentation checklist</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Photograph all vehicles, license plates, VIN stickers, skid marks, traffic signals, and visible injuries. Killeen insurers expect timestamped photos.</a:t>
            </a:r>
            <a:endParaRPr lang="en-US" sz="1300" dirty="0"/>
          </a:p>
          <a:p>
            <a:pPr indent="0" marL="0">
              <a:buNone/>
            </a:pPr>
            <a:endParaRPr lang="en-US" sz="1300" dirty="0"/>
          </a:p>
          <a:p>
            <a:pPr indent="0" marL="0">
              <a:buNone/>
            </a:pPr>
            <a:r>
              <a:rPr lang="en-US" sz="1300" dirty="0">
                <a:solidFill>
                  <a:srgbClr val="E8EDF4"/>
                </a:solidFill>
              </a:rPr>
              <a:t>Collect names and phone numbers from witnesses — independent accounts matter on Major highways and arterials in Killeen and in Killeen County / local jurisdiction.</a:t>
            </a:r>
            <a:endParaRPr lang="en-US" sz="1300" dirty="0"/>
          </a:p>
          <a:p>
            <a:pPr indent="0" marL="0">
              <a:buNone/>
            </a:pPr>
            <a:endParaRPr lang="en-US" sz="1300" dirty="0"/>
          </a:p>
          <a:p>
            <a:pPr indent="0" marL="0">
              <a:buNone/>
            </a:pPr>
            <a:r>
              <a:rPr lang="en-US" sz="1300" dirty="0">
                <a:solidFill>
                  <a:srgbClr val="E8EDF4"/>
                </a:solidFill>
              </a:rPr>
              <a:t>Exchange insurance policy numbers and registration; note employer if the other driver was working.</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Medical care within 24 hours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Killeen has Killeen area hospitals and emergency departments among its major facilities. Verify the nearest trauma center if injuries may be serious.</a:t>
            </a:r>
            <a:endParaRPr lang="en-US" sz="1300" dirty="0"/>
          </a:p>
          <a:p>
            <a:pPr indent="0" marL="0">
              <a:buNone/>
            </a:pPr>
            <a:endParaRPr lang="en-US" sz="1300" dirty="0"/>
          </a:p>
          <a:p>
            <a:pPr indent="0" marL="0">
              <a:buNone/>
            </a:pPr>
            <a:r>
              <a:rPr lang="en-US" sz="1300" dirty="0">
                <a:solidFill>
                  <a:srgbClr val="E8EDF4"/>
                </a:solidFill>
              </a:rPr>
              <a:t>Whiplash, concussion, and internal injuries may appear hours later. A same-day urgent care or ER visit creates a medical record insurers cannot easily dismiss.</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Texas reporting rules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Texas requires crash reporting when injuries, death, or significant property damage occur. Minimum liability limits are 30/60/25.</a:t>
            </a:r>
            <a:endParaRPr lang="en-US" sz="1300" dirty="0"/>
          </a:p>
          <a:p>
            <a:pPr indent="0" marL="0">
              <a:buNone/>
            </a:pPr>
            <a:endParaRPr lang="en-US" sz="1300" dirty="0"/>
          </a:p>
          <a:p>
            <a:pPr indent="0" marL="0">
              <a:buNone/>
            </a:pPr>
            <a:r>
              <a:rPr lang="en-US" sz="1300" dirty="0">
                <a:solidFill>
                  <a:srgbClr val="E8EDF4"/>
                </a:solidFill>
              </a:rPr>
              <a:t>Cooperate with officers; request a copy of the report through the investigating agency. If police do not respond, check https://www.txdot.gov/ for self-report thresholds.</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Insurance notification without hurting your claim</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Notify your carrier with basic facts — date, location, vehicles involved. Decline recorded statements until you understand your coverage and injuries.</a:t>
            </a:r>
            <a:endParaRPr lang="en-US" sz="1300" dirty="0"/>
          </a:p>
          <a:p>
            <a:pPr indent="0" marL="0">
              <a:buNone/>
            </a:pPr>
            <a:endParaRPr lang="en-US" sz="1300" dirty="0"/>
          </a:p>
          <a:p>
            <a:pPr indent="0" marL="0">
              <a:buNone/>
            </a:pPr>
            <a:r>
              <a:rPr lang="en-US" sz="1300" dirty="0">
                <a:solidFill>
                  <a:srgbClr val="E8EDF4"/>
                </a:solidFill>
              </a:rPr>
              <a:t>Texas uses 51% bar comparative negligence; anything you say can affect fault allocation.</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Evidence preservation in Killeen</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Dashcam, Ring doorbell, and business security footage near High-traffic corridors in Killeen, TX is often deleted within 7–30 days. Send written preservation letters when appropriate.</a:t>
            </a:r>
            <a:endParaRPr lang="en-US" sz="1300" dirty="0"/>
          </a:p>
          <a:p>
            <a:pPr indent="0" marL="0">
              <a:buNone/>
            </a:pPr>
            <a:endParaRPr lang="en-US" sz="1300" dirty="0"/>
          </a:p>
          <a:p>
            <a:pPr indent="0" marL="0">
              <a:buNone/>
            </a:pPr>
            <a:r>
              <a:rPr lang="en-US" sz="1300" dirty="0">
                <a:solidFill>
                  <a:srgbClr val="E8EDF4"/>
                </a:solidFill>
              </a:rPr>
              <a:t>Save repair estimates, rental receipts, and mileage to medical appointments.</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When to explore attorney matching</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Consider a free consultation if you were hospitalized, fault is disputed, a commercial vehicle was involved, or the adjuster offers a quick settlement before treatment finishes.</a:t>
            </a:r>
            <a:endParaRPr lang="en-US" sz="1300" dirty="0"/>
          </a:p>
          <a:p>
            <a:pPr indent="0" marL="0">
              <a:buNone/>
            </a:pPr>
            <a:endParaRPr lang="en-US" sz="1300" dirty="0"/>
          </a:p>
          <a:p>
            <a:pPr indent="0" marL="0">
              <a:buNone/>
            </a:pPr>
            <a:r>
              <a:rPr lang="en-US" sz="1300" dirty="0">
                <a:solidFill>
                  <a:srgbClr val="E8EDF4"/>
                </a:solidFill>
              </a:rPr>
              <a:t>Law Office of Bobby Garcia, P.C. connects Killeen residents with licensed Texas attorneys — we are a</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Why Killeen crash victims call Bobby Garcia Law</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The Law Office of Bobby Garcia, P.C. has served South Texas and Houston families for more than 35 years. When a collision in Killeen disrupts your work, health, and finances, you need a trial team—not a call center. Bobby Garcia Law combines aggressive litigation with clear communication in English and Spanish, 24 hours a day.</a:t>
            </a:r>
            <a:endParaRPr lang="en-US" sz="1300" dirty="0"/>
          </a:p>
          <a:p>
            <a:pPr indent="0" marL="0">
              <a:buNone/>
            </a:pPr>
            <a:endParaRPr lang="en-US" sz="1300" dirty="0"/>
          </a:p>
          <a:p>
            <a:pPr indent="0" marL="0">
              <a:buNone/>
            </a:pPr>
            <a:r>
              <a:rPr lang="en-US" sz="1300" dirty="0">
                <a:solidFill>
                  <a:srgbClr val="E8EDF4"/>
                </a:solidFill>
              </a:rPr>
              <a:t>This guide explains Texas insurance rules, medical documentation, evidence preservation, and deadlines that apply after a crash in Killeen. It is Educational information from the Law Office of Bobby Garcia, P.C. — not legal ad…C. — not legal advice. Consult a licensed Texas attorney about your specific case.</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Texas fault and comparative negligence</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Texas follows modified comparative negligence with a 51% bar. If you are more than 50% at fault, you may recover nothing. Insurers in Killeen routinely argue shared fault to reduce payouts—your documentation from day one shapes that fight.</a:t>
            </a:r>
            <a:endParaRPr lang="en-US" sz="1300" dirty="0"/>
          </a:p>
          <a:p>
            <a:pPr indent="0" marL="0">
              <a:buNone/>
            </a:pPr>
            <a:endParaRPr lang="en-US" sz="1300" dirty="0"/>
          </a:p>
          <a:p>
            <a:pPr indent="0" marL="0">
              <a:buNone/>
            </a:pPr>
            <a:r>
              <a:rPr lang="en-US" sz="1300" dirty="0">
                <a:solidFill>
                  <a:srgbClr val="E8EDF4"/>
                </a:solidFill>
              </a:rPr>
              <a:t>Police reports, witness statements, traffic citations, and scene photos help establish who failed to yield, follow speed limits, or maintain a safe distance. Never admit fault at the scene; describe facts calmly to officers.</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548640"/>
          </a:xfrm>
          <a:prstGeom prst="rect">
            <a:avLst/>
          </a:prstGeom>
          <a:noFill/>
          <a:ln/>
        </p:spPr>
        <p:txBody>
          <a:bodyPr wrap="square" rtlCol="0" anchor="ctr"/>
          <a:lstStyle/>
          <a:p>
            <a:pPr indent="0" marL="0">
              <a:buNone/>
            </a:pPr>
            <a:r>
              <a:rPr lang="en-US" sz="2000" b="1" dirty="0">
                <a:solidFill>
                  <a:srgbClr val="C9A227"/>
                </a:solidFill>
              </a:rPr>
              <a:t>Texas fault and comparative negligence</a:t>
            </a:r>
            <a:endParaRPr lang="en-US" sz="2000" dirty="0"/>
          </a:p>
        </p:txBody>
      </p:sp>
      <p:sp>
        <p:nvSpPr>
          <p:cNvPr id="3" name="Text 1"/>
          <p:cNvSpPr/>
          <p:nvPr/>
        </p:nvSpPr>
        <p:spPr>
          <a:xfrm>
            <a:off x="640080" y="1005840"/>
            <a:ext cx="8046720" cy="3657600"/>
          </a:xfrm>
          <a:prstGeom prst="rect">
            <a:avLst/>
          </a:prstGeom>
          <a:noFill/>
          <a:ln/>
        </p:spPr>
        <p:txBody>
          <a:bodyPr wrap="square" rtlCol="0" anchor="ctr"/>
          <a:lstStyle/>
          <a:p>
            <a:pPr marL="342900" indent="-342900">
              <a:buSzPct val="100000"/>
              <a:buChar char="•"/>
            </a:pPr>
            <a:r>
              <a:rPr lang="en-US" sz="1400" dirty="0">
                <a:solidFill>
                  <a:srgbClr val="E8EDF4"/>
                </a:solidFill>
              </a:rPr>
              <a:t>Request the responding officer's name and report number</a:t>
            </a:r>
            <a:endParaRPr lang="en-US" sz="1400" dirty="0"/>
          </a:p>
          <a:p>
            <a:pPr marL="342900" indent="-342900">
              <a:buSzPct val="100000"/>
              <a:buChar char="•"/>
            </a:pPr>
            <a:r>
              <a:rPr lang="en-US" sz="1400" dirty="0">
                <a:solidFill>
                  <a:srgbClr val="E8EDF4"/>
                </a:solidFill>
              </a:rPr>
              <a:t>Note weather, lighting, and road conditions</a:t>
            </a:r>
            <a:endParaRPr lang="en-US" sz="1400" dirty="0"/>
          </a:p>
          <a:p>
            <a:pPr marL="342900" indent="-342900">
              <a:buSzPct val="100000"/>
              <a:buChar char="•"/>
            </a:pPr>
            <a:r>
              <a:rPr lang="en-US" sz="1400" dirty="0">
                <a:solidFill>
                  <a:srgbClr val="E8EDF4"/>
                </a:solidFill>
              </a:rPr>
              <a:t>Identify surveillance cameras at nearby businesses</a:t>
            </a:r>
            <a:endParaRPr lang="en-US" sz="1400" dirty="0"/>
          </a:p>
          <a:p>
            <a:pPr marL="342900" indent="-342900">
              <a:buSzPct val="100000"/>
              <a:buChar char="•"/>
            </a:pPr>
            <a:r>
              <a:rPr lang="en-US" sz="1400" dirty="0">
                <a:solidFill>
                  <a:srgbClr val="E8EDF4"/>
                </a:solidFill>
              </a:rPr>
              <a:t>Save dashcam or phone video immediately</a:t>
            </a:r>
            <a:endParaRPr lang="en-US" sz="14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Killeen insurance minimums and coverage gaps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Texas requires minimum liability limits of 30/60/25 ($30,000 per person bodily injury, $60,000 per accident, $25,000 property damage). Many at-fault drivers carry only minimums—often insufficient for hospital bills after a serious Killeen collision.</a:t>
            </a:r>
            <a:endParaRPr lang="en-US" sz="1300" dirty="0"/>
          </a:p>
          <a:p>
            <a:pPr indent="0" marL="0">
              <a:buNone/>
            </a:pPr>
            <a:endParaRPr lang="en-US" sz="1300" dirty="0"/>
          </a:p>
          <a:p>
            <a:pPr indent="0" marL="0">
              <a:buNone/>
            </a:pPr>
            <a:r>
              <a:rPr lang="en-US" sz="1300" dirty="0">
                <a:solidFill>
                  <a:srgbClr val="E8EDF4"/>
                </a:solidFill>
              </a:rPr>
              <a:t>Review your declarations page for uninsured/underinsured motorist (UM/UIM), personal injury protection (PIP), and MedPay. These coverages can matter when the other driver has inadequate limits or flees the scene.</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Medical treatment and documentation</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Insurers scrutinize gaps in treatment. After a Killeen crash, seek care within 24 hours even if pain feels minor—whiplash, concussion, and internal bleeding may appear later. ER records, urgent care notes, and follow-up visits create a timeline insurers cannot easily dismiss.</a:t>
            </a:r>
            <a:endParaRPr lang="en-US" sz="1300" dirty="0"/>
          </a:p>
          <a:p>
            <a:pPr indent="0" marL="0">
              <a:buNone/>
            </a:pPr>
            <a:endParaRPr lang="en-US" sz="1300" dirty="0"/>
          </a:p>
          <a:p>
            <a:pPr indent="0" marL="0">
              <a:buNone/>
            </a:pPr>
            <a:r>
              <a:rPr lang="en-US" sz="1300" dirty="0">
                <a:solidFill>
                  <a:srgbClr val="E8EDF4"/>
                </a:solidFill>
              </a:rPr>
              <a:t>Keep itemized bills, imaging orders (X-ray, MRI, CT), prescriptions, physical therapy schedules, and mileage to appointments. Bobby Garcia Law's medical specialists help clients organize treatment records for maximum clarity.</a:t>
            </a:r>
            <a:endParaRPr lang="en-US" sz="13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548640"/>
          </a:xfrm>
          <a:prstGeom prst="rect">
            <a:avLst/>
          </a:prstGeom>
          <a:noFill/>
          <a:ln/>
        </p:spPr>
        <p:txBody>
          <a:bodyPr wrap="square" rtlCol="0" anchor="ctr"/>
          <a:lstStyle/>
          <a:p>
            <a:pPr indent="0" marL="0">
              <a:buNone/>
            </a:pPr>
            <a:r>
              <a:rPr lang="en-US" sz="2000" b="1" dirty="0">
                <a:solidFill>
                  <a:srgbClr val="C9A227"/>
                </a:solidFill>
              </a:rPr>
              <a:t>Medical treatment and documentation</a:t>
            </a:r>
            <a:endParaRPr lang="en-US" sz="2000" dirty="0"/>
          </a:p>
        </p:txBody>
      </p:sp>
      <p:sp>
        <p:nvSpPr>
          <p:cNvPr id="3" name="Text 1"/>
          <p:cNvSpPr/>
          <p:nvPr/>
        </p:nvSpPr>
        <p:spPr>
          <a:xfrm>
            <a:off x="640080" y="1005840"/>
            <a:ext cx="8046720" cy="3657600"/>
          </a:xfrm>
          <a:prstGeom prst="rect">
            <a:avLst/>
          </a:prstGeom>
          <a:noFill/>
          <a:ln/>
        </p:spPr>
        <p:txBody>
          <a:bodyPr wrap="square" rtlCol="0" anchor="ctr"/>
          <a:lstStyle/>
          <a:p>
            <a:pPr marL="342900" indent="-342900">
              <a:buSzPct val="100000"/>
              <a:buChar char="•"/>
            </a:pPr>
            <a:r>
              <a:rPr lang="en-US" sz="1400" dirty="0">
                <a:solidFill>
                  <a:srgbClr val="E8EDF4"/>
                </a:solidFill>
              </a:rPr>
              <a:t>Photograph visible injuries on day one</a:t>
            </a:r>
            <a:endParaRPr lang="en-US" sz="1400" dirty="0"/>
          </a:p>
          <a:p>
            <a:pPr marL="342900" indent="-342900">
              <a:buSzPct val="100000"/>
              <a:buChar char="•"/>
            </a:pPr>
            <a:r>
              <a:rPr lang="en-US" sz="1400" dirty="0">
                <a:solidFill>
                  <a:srgbClr val="E8EDF4"/>
                </a:solidFill>
              </a:rPr>
              <a:t>Follow every discharge instruction</a:t>
            </a:r>
            <a:endParaRPr lang="en-US" sz="1400" dirty="0"/>
          </a:p>
          <a:p>
            <a:pPr marL="342900" indent="-342900">
              <a:buSzPct val="100000"/>
              <a:buChar char="•"/>
            </a:pPr>
            <a:r>
              <a:rPr lang="en-US" sz="1400" dirty="0">
                <a:solidFill>
                  <a:srgbClr val="E8EDF4"/>
                </a:solidFill>
              </a:rPr>
              <a:t>Do not sign blanket medical authorizations for adjusters</a:t>
            </a:r>
            <a:endParaRPr lang="en-US" sz="1400" dirty="0"/>
          </a:p>
          <a:p>
            <a:pPr marL="342900" indent="-342900">
              <a:buSzPct val="100000"/>
              <a:buChar char="•"/>
            </a:pPr>
            <a:r>
              <a:rPr lang="en-US" sz="1400" dirty="0">
                <a:solidFill>
                  <a:srgbClr val="E8EDF4"/>
                </a:solidFill>
              </a:rPr>
              <a:t>Track lost wages with employer documentation</a:t>
            </a:r>
            <a:endParaRPr lang="en-US" sz="14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Dealing with claims adjusters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Adjusters represent the insurance company's financial interests—not yours. They may request recorded statements, broad medical releases, or quick settlements before you understand injury severity. In Killeen and across Texas, early statements can lock in descriptions that reduce fault on the other driver.</a:t>
            </a:r>
            <a:endParaRPr lang="en-US" sz="1300" dirty="0"/>
          </a:p>
          <a:p>
            <a:pPr indent="0" marL="0">
              <a:buNone/>
            </a:pPr>
            <a:endParaRPr lang="en-US" sz="1300" dirty="0"/>
          </a:p>
          <a:p>
            <a:pPr indent="0" marL="0">
              <a:buNone/>
            </a:pPr>
            <a:r>
              <a:rPr lang="en-US" sz="1300" dirty="0">
                <a:solidFill>
                  <a:srgbClr val="E8EDF4"/>
                </a:solidFill>
              </a:rPr>
              <a:t>Provide basic facts—date, time, location, vehicles involved. Decline recorded interviews until you understand coverage and injuries. Request denials, reservation-of-rights letters, and settlement offers in writing.</a:t>
            </a:r>
            <a:endParaRPr lang="en-US" sz="13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Evidence preservation in the first 30 days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Skid marks fade, witnesses forget details, and business surveillance video is often deleted within 7–30 days. After a crash on Killeen highways or surface streets, send preservation letters to businesses, municipalities, and trucking companies when commercial vehicles are involved.</a:t>
            </a:r>
            <a:endParaRPr lang="en-US" sz="1300" dirty="0"/>
          </a:p>
          <a:p>
            <a:pPr indent="0" marL="0">
              <a:buNone/>
            </a:pPr>
            <a:endParaRPr lang="en-US" sz="1300" dirty="0"/>
          </a:p>
          <a:p>
            <a:pPr indent="0" marL="0">
              <a:buNone/>
            </a:pPr>
            <a:r>
              <a:rPr lang="en-US" sz="1300" dirty="0">
                <a:solidFill>
                  <a:srgbClr val="E8EDF4"/>
                </a:solidFill>
              </a:rPr>
              <a:t>Preserve repair estimates, rental receipts, tow bills, and cell-phone metadata. Social media posts about the crash or your activities can be used against you—avoid discussing fault or activities online.</a:t>
            </a:r>
            <a:endParaRPr lang="en-US" sz="13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Commercial trucks and 18-wheelers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Killeen corridors see heavy commercial traffic. Trucking cases involve federal motor carrier rules, electronic logging devices, black-box data, and multiple defendants (driver, carrier, broker, shipper). Evidence spoils quickly—qualified counsel helps preserve downloads and driver qualification files.</a:t>
            </a:r>
            <a:endParaRPr lang="en-US" sz="13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Statute of limitations and notice deadlines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Most Texas personal injury claims must be filed within two years of the injury date. Government-entity cases (city buses, state vehicles) may require earlier notice—sometimes within months. Missing a deadline can permanently bar recovery regardless of merit.</a:t>
            </a:r>
            <a:endParaRPr lang="en-US" sz="1300" dirty="0"/>
          </a:p>
          <a:p>
            <a:pPr indent="0" marL="0">
              <a:buNone/>
            </a:pPr>
            <a:endParaRPr lang="en-US" sz="1300" dirty="0"/>
          </a:p>
          <a:p>
            <a:pPr indent="0" marL="0">
              <a:buNone/>
            </a:pPr>
            <a:r>
              <a:rPr lang="en-US" sz="1300" dirty="0">
                <a:solidFill>
                  <a:srgbClr val="E8EDF4"/>
                </a:solidFill>
              </a:rPr>
              <a:t>Calendar your dates immediately after a Killeen crash. Bobby Garcia Law offers free consultations 24/7 at (956) 668-7400 to help you understand timelines—Justice Made Simple.</a:t>
            </a:r>
            <a:endParaRPr lang="en-US" sz="13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Property damage and total-loss disputes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Insurers may undervalue repairs or declare a total loss based on comparables that favor the carrier. Obtain independent estimates from reputable body shops in Killeen. Review valuation reports for missing equipment, recent maintenance, and regional price adjustments.</a:t>
            </a:r>
            <a:endParaRPr lang="en-US" sz="13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Lost wages and economic damages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Document every missed shift, PTO day, and reduced earning capacity. Employers in Killeen can provide verification letters; self-employed victims should gather tax returns, contracts, and invoices showing lost opportunities. Vocational experts may be needed for long-term disability.</a:t>
            </a:r>
            <a:endParaRPr lang="en-US" sz="13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Pain, suffering, and non-economic damages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Texas allows recovery for physical pain, mental anguish, disfigurement, and loss of enjoyment of life when liability and causation are established. Journals documenting sleep loss, anxiety, and daily limitations can support these elements—start early after your Killeen collision.</a:t>
            </a:r>
            <a:endParaRPr lang="en-US" sz="13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Settlement vs. litigation timeline</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Minor property claims may resolve in weeks; injury claims with treatment, disputed fault, or commercial defendants often take months or years. Mediation, discovery, and expert depositions extend timelines but may increase recovery. Never sign a general release while treatment is ongoing.</a:t>
            </a:r>
            <a:endParaRPr lang="en-US" sz="13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Working with Bobby Garcia Law</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Bobby Garcia Law is a full-service trial firm—not a referral mill. Your team may include trial attorneys, legal analysts, medical specialists, and paralegals dedicated to your case. We serve Killeen, the Rio Grande Valley, Houston, and clients statewide. No win, no fee on qualifying personal injury matters.</a:t>
            </a:r>
            <a:endParaRPr lang="en-US" sz="1300" dirty="0"/>
          </a:p>
          <a:p>
            <a:pPr indent="0" marL="0">
              <a:buNone/>
            </a:pPr>
            <a:endParaRPr lang="en-US" sz="1300" dirty="0"/>
          </a:p>
          <a:p>
            <a:pPr indent="0" marL="0">
              <a:buNone/>
            </a:pPr>
            <a:r>
              <a:rPr lang="en-US" sz="1300" dirty="0">
                <a:solidFill>
                  <a:srgbClr val="E8EDF4"/>
                </a:solidFill>
              </a:rPr>
              <a:t>Call (956) 668-7400 anytime for a free confidential consultation. Se habla Español. Bobby está contigo—Justice Made Simple.</a:t>
            </a:r>
            <a:endParaRPr lang="en-US" sz="13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Insurance coverage review for Killeen families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Declarations pages list BI, PD, UM/UIM, MedPay, and PIP. Many Killeen households discover usable coverage only after a thorough review with counsel.</a:t>
            </a:r>
            <a:endParaRPr lang="en-US" sz="1300" dirty="0"/>
          </a:p>
          <a:p>
            <a:pPr indent="0" marL="0">
              <a:buNone/>
            </a:pPr>
            <a:endParaRPr lang="en-US" sz="1300" dirty="0"/>
          </a:p>
          <a:p>
            <a:pPr indent="0" marL="0">
              <a:buNone/>
            </a:pPr>
            <a:r>
              <a:rPr lang="en-US" sz="1300" dirty="0">
                <a:solidFill>
                  <a:srgbClr val="E8EDF4"/>
                </a:solidFill>
              </a:rPr>
              <a:t>Stacking rules, household exclusions, and named-driver endorsements change outcomes. Do not assume the adjuster's first explanation is complete.</a:t>
            </a:r>
            <a:endParaRPr lang="en-US" sz="1300" dirty="0"/>
          </a:p>
          <a:p>
            <a:pPr indent="0" marL="0">
              <a:buNone/>
            </a:pPr>
            <a:endParaRPr lang="en-US" sz="1300" dirty="0"/>
          </a:p>
          <a:p>
            <a:pPr indent="0" marL="0">
              <a:buNone/>
            </a:pPr>
            <a:r>
              <a:rPr lang="en-US" sz="1300" dirty="0">
                <a:solidFill>
                  <a:srgbClr val="E8EDF4"/>
                </a:solidFill>
              </a:rPr>
              <a:t>Call Bobby Garcia Law at (956) 668-7400 for a free review of how Texas policies interact after a Killeen collision.</a:t>
            </a:r>
            <a:endParaRPr lang="en-US" sz="13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Long-term recovery planning in Killeen</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Serious injuries require vocational planning, home modifications, and future medical cost projections—not just current bills.</a:t>
            </a:r>
            <a:endParaRPr lang="en-US" sz="1300" dirty="0"/>
          </a:p>
          <a:p>
            <a:pPr indent="0" marL="0">
              <a:buNone/>
            </a:pPr>
            <a:endParaRPr lang="en-US" sz="1300" dirty="0"/>
          </a:p>
          <a:p>
            <a:pPr indent="0" marL="0">
              <a:buNone/>
            </a:pPr>
            <a:r>
              <a:rPr lang="en-US" sz="1300" dirty="0">
                <a:solidFill>
                  <a:srgbClr val="E8EDF4"/>
                </a:solidFill>
              </a:rPr>
              <a:t>Economists and life-care planners quantify damages when Killeen cases involve permanent limitations. Start documenting limitations in daily journals early.</a:t>
            </a:r>
            <a:endParaRPr lang="en-US" sz="1300" dirty="0"/>
          </a:p>
          <a:p>
            <a:pPr indent="0" marL="0">
              <a:buNone/>
            </a:pPr>
            <a:endParaRPr lang="en-US" sz="1300" dirty="0"/>
          </a:p>
          <a:p>
            <a:pPr indent="0" marL="0">
              <a:buNone/>
            </a:pPr>
            <a:r>
              <a:rPr lang="en-US" sz="1300" dirty="0">
                <a:solidFill>
                  <a:srgbClr val="E8EDF4"/>
                </a:solidFill>
              </a:rPr>
              <a:t>Educational information from the Law Office of Bobby Garcia, P.C. — not legal advice. Consult a licensed Texas attorney about your specific case.</a:t>
            </a:r>
            <a:endParaRPr lang="en-US" sz="13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Killeen crash investigation checklist (part 3)</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Killeen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Killeen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Killeen corridors—these facts often appear only on the first report draft.</a:t>
            </a:r>
            <a:endParaRPr lang="en-US" sz="13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Killeen crash investigation checklist (part 6)</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Killeen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Killeen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Killeen corridors—these facts often appear only on the first report draft.</a:t>
            </a:r>
            <a:endParaRPr lang="en-US" sz="13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Killeen crash investigation checklist (part 9)</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Killeen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Killeen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Killeen corridors—these facts often appear only on the first report draft.</a:t>
            </a:r>
            <a:endParaRPr lang="en-US" sz="13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Killeen crash investigation checklist (part 12)</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Killeen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Killeen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Killeen corridors—these facts often appear only on the first report draft.</a:t>
            </a:r>
            <a:endParaRPr lang="en-US" sz="13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Negotiation strategy for Killeen claims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Initial offers rarely reflect full medical specials, future care, and wage loss. Build a demand package with organized exhibits before serious talks begin.</a:t>
            </a:r>
            <a:endParaRPr lang="en-US" sz="1300" dirty="0"/>
          </a:p>
          <a:p>
            <a:pPr indent="0" marL="0">
              <a:buNone/>
            </a:pPr>
            <a:endParaRPr lang="en-US" sz="1300" dirty="0"/>
          </a:p>
          <a:p>
            <a:pPr indent="0" marL="0">
              <a:buNone/>
            </a:pPr>
            <a:r>
              <a:rPr lang="en-US" sz="1300" dirty="0">
                <a:solidFill>
                  <a:srgbClr val="E8EDF4"/>
                </a:solidFill>
              </a:rPr>
              <a:t>Statute-of-limitations deadlines and policy limits shape leverage. Identify all liable parties early—including employers, vendors, and municipal actors when applicable.</a:t>
            </a:r>
            <a:endParaRPr lang="en-US" sz="1300" dirty="0"/>
          </a:p>
          <a:p>
            <a:pPr indent="0" marL="0">
              <a:buNone/>
            </a:pPr>
            <a:endParaRPr lang="en-US" sz="1300" dirty="0"/>
          </a:p>
          <a:p>
            <a:pPr indent="0" marL="0">
              <a:buNone/>
            </a:pPr>
            <a:r>
              <a:rPr lang="en-US" sz="1300" dirty="0">
                <a:solidFill>
                  <a:srgbClr val="E8EDF4"/>
                </a:solidFill>
              </a:rPr>
              <a:t>Mediation can resolve Killeen disputes without trial, but only when your file is trial-ready. Weak documentation invites low final numbers.</a:t>
            </a:r>
            <a:endParaRPr lang="en-US" sz="1300" dirty="0"/>
          </a:p>
          <a:p>
            <a:pPr indent="0" marL="0">
              <a:buNone/>
            </a:pPr>
            <a:endParaRPr lang="en-US" sz="1300" dirty="0"/>
          </a:p>
          <a:p>
            <a:pPr indent="0" marL="0">
              <a:buNone/>
            </a:pPr>
            <a:r>
              <a:rPr lang="en-US" sz="1300" dirty="0">
                <a:solidFill>
                  <a:srgbClr val="E8EDF4"/>
                </a:solidFill>
              </a:rPr>
              <a:t>Our team prepares every Killeen matter as if a jury will decide it, which improves settlement posture throughout the process.</a:t>
            </a:r>
            <a:endParaRPr lang="en-US" sz="13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Trial readiness for serious Killeen cases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Deposition summaries, exhibit lists, and witness outlines distinguish prepared trial teams from paper-file practices.</a:t>
            </a:r>
            <a:endParaRPr lang="en-US" sz="1300" dirty="0"/>
          </a:p>
          <a:p>
            <a:pPr indent="0" marL="0">
              <a:buNone/>
            </a:pPr>
            <a:endParaRPr lang="en-US" sz="1300" dirty="0"/>
          </a:p>
          <a:p>
            <a:pPr indent="0" marL="0">
              <a:buNone/>
            </a:pPr>
            <a:r>
              <a:rPr lang="en-US" sz="1300" dirty="0">
                <a:solidFill>
                  <a:srgbClr val="E8EDF4"/>
                </a:solidFill>
              </a:rPr>
              <a:t>Accident reconstruction, biomechanical opinions, and treating-physician testimony can be essential when liability or damages are contested.</a:t>
            </a:r>
            <a:endParaRPr lang="en-US" sz="1300" dirty="0"/>
          </a:p>
          <a:p>
            <a:pPr indent="0" marL="0">
              <a:buNone/>
            </a:pPr>
            <a:endParaRPr lang="en-US" sz="1300" dirty="0"/>
          </a:p>
          <a:p>
            <a:pPr indent="0" marL="0">
              <a:buNone/>
            </a:pPr>
            <a:r>
              <a:rPr lang="en-US" sz="1300" dirty="0">
                <a:solidFill>
                  <a:srgbClr val="E8EDF4"/>
                </a:solidFill>
              </a:rPr>
              <a:t>Venue rules and jury pools in Texas vary by county. Early case assessment should account for local attitudes toward injury claims.</a:t>
            </a:r>
            <a:endParaRPr lang="en-US" sz="1300" dirty="0"/>
          </a:p>
          <a:p>
            <a:pPr indent="0" marL="0">
              <a:buNone/>
            </a:pPr>
            <a:endParaRPr lang="en-US" sz="1300" dirty="0"/>
          </a:p>
          <a:p>
            <a:pPr indent="0" marL="0">
              <a:buNone/>
            </a:pPr>
            <a:r>
              <a:rPr lang="en-US" sz="1300" dirty="0">
                <a:solidFill>
                  <a:srgbClr val="E8EDF4"/>
                </a:solidFill>
              </a:rPr>
              <a:t>If settlement talks stall, Bobby Garcia Law is prepared to present your Killeen case clearly before a judge and jury.</a:t>
            </a:r>
            <a:endParaRPr lang="en-US" sz="13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Killeen crash investigation checklist (part 3)</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Killeen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Killeen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Killeen corridors—these facts often appear only on the first report draft.</a:t>
            </a:r>
            <a:endParaRPr lang="en-US" sz="1300" dirty="0"/>
          </a:p>
          <a:p>
            <a:pPr indent="0" marL="0">
              <a:buNone/>
            </a:pPr>
            <a:endParaRPr lang="en-US" sz="1300" dirty="0"/>
          </a:p>
          <a:p>
            <a:pPr indent="0" marL="0">
              <a:buNone/>
            </a:pPr>
            <a:r>
              <a:rPr lang="en-US" sz="1300" dirty="0">
                <a:solidFill>
                  <a:srgbClr val="E8EDF4"/>
                </a:solidFill>
              </a:rPr>
              <a:t>Witness names and phone numbers fade quickly. Collect contact information at the scene and follow up within 48 hours while memories are fresh.</a:t>
            </a:r>
            <a:endParaRPr lang="en-US" sz="13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Insurance coverage review for Killeen families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Declarations pages list BI, PD, UM/UIM, MedPay, and PIP. Many Killeen households discover usable coverage only after a thorough review with counsel.</a:t>
            </a:r>
            <a:endParaRPr lang="en-US" sz="1300" dirty="0"/>
          </a:p>
          <a:p>
            <a:pPr indent="0" marL="0">
              <a:buNone/>
            </a:pPr>
            <a:endParaRPr lang="en-US" sz="1300" dirty="0"/>
          </a:p>
          <a:p>
            <a:pPr indent="0" marL="0">
              <a:buNone/>
            </a:pPr>
            <a:r>
              <a:rPr lang="en-US" sz="1300" dirty="0">
                <a:solidFill>
                  <a:srgbClr val="E8EDF4"/>
                </a:solidFill>
              </a:rPr>
              <a:t>Stacking rules, household exclusions, and named-driver endorsements change outcomes. Do not assume the adjuster's first explanation is complete.</a:t>
            </a:r>
            <a:endParaRPr lang="en-US" sz="1300" dirty="0"/>
          </a:p>
          <a:p>
            <a:pPr indent="0" marL="0">
              <a:buNone/>
            </a:pPr>
            <a:endParaRPr lang="en-US" sz="1300" dirty="0"/>
          </a:p>
          <a:p>
            <a:pPr indent="0" marL="0">
              <a:buNone/>
            </a:pPr>
            <a:r>
              <a:rPr lang="en-US" sz="1300" dirty="0">
                <a:solidFill>
                  <a:srgbClr val="E8EDF4"/>
                </a:solidFill>
              </a:rPr>
              <a:t>Call Bobby Garcia Law at (956) 668-7400 for a free review of how Texas policies interact after a Killeen collision.</a:t>
            </a:r>
            <a:endParaRPr lang="en-US" sz="1300" dirty="0"/>
          </a:p>
          <a:p>
            <a:pPr indent="0" marL="0">
              <a:buNone/>
            </a:pPr>
            <a:endParaRPr lang="en-US" sz="1300" dirty="0"/>
          </a:p>
          <a:p>
            <a:pPr indent="0" marL="0">
              <a:buNone/>
            </a:pPr>
            <a:r>
              <a:rPr lang="en-US" sz="1300" dirty="0">
                <a:solidFill>
                  <a:srgbClr val="E8EDF4"/>
                </a:solidFill>
              </a:rPr>
              <a:t>Subrogation letters and lien notices can reduce net recovery if not negotiated early. Identify health-plan and ER lien holders before settling.</a:t>
            </a:r>
            <a:endParaRPr lang="en-US" sz="13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Long-term recovery planning in Killeen</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Serious injuries require vocational planning, home modifications, and future medical cost projections—not just current bills.</a:t>
            </a:r>
            <a:endParaRPr lang="en-US" sz="1300" dirty="0"/>
          </a:p>
          <a:p>
            <a:pPr indent="0" marL="0">
              <a:buNone/>
            </a:pPr>
            <a:endParaRPr lang="en-US" sz="1300" dirty="0"/>
          </a:p>
          <a:p>
            <a:pPr indent="0" marL="0">
              <a:buNone/>
            </a:pPr>
            <a:r>
              <a:rPr lang="en-US" sz="1300" dirty="0">
                <a:solidFill>
                  <a:srgbClr val="E8EDF4"/>
                </a:solidFill>
              </a:rPr>
              <a:t>Economists and life-care planners quantify damages when Killeen cases involve permanent limitations. Start documenting limitations in daily journals early.</a:t>
            </a:r>
            <a:endParaRPr lang="en-US" sz="1300" dirty="0"/>
          </a:p>
          <a:p>
            <a:pPr indent="0" marL="0">
              <a:buNone/>
            </a:pPr>
            <a:endParaRPr lang="en-US" sz="1300" dirty="0"/>
          </a:p>
          <a:p>
            <a:pPr indent="0" marL="0">
              <a:buNone/>
            </a:pPr>
            <a:r>
              <a:rPr lang="en-US" sz="1300" dirty="0">
                <a:solidFill>
                  <a:srgbClr val="E8EDF4"/>
                </a:solidFill>
              </a:rPr>
              <a:t>School and employer accommodations may be legally required while you heal. Request written plans instead of informal verbal promises.</a:t>
            </a:r>
            <a:endParaRPr lang="en-US" sz="1300" dirty="0"/>
          </a:p>
          <a:p>
            <a:pPr indent="0" marL="0">
              <a:buNone/>
            </a:pPr>
            <a:endParaRPr lang="en-US" sz="1300" dirty="0"/>
          </a:p>
          <a:p>
            <a:pPr indent="0" marL="0">
              <a:buNone/>
            </a:pPr>
            <a:r>
              <a:rPr lang="en-US" sz="1300" dirty="0">
                <a:solidFill>
                  <a:srgbClr val="E8EDF4"/>
                </a:solidFill>
              </a:rPr>
              <a:t>Educational information from the Law Office of Bobby Garcia, P.C. — not legal advice. Consult a licensed Texas attorney about your specific case.</a:t>
            </a:r>
            <a:endParaRPr lang="en-US" sz="13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Medical documentation after a Killeen injury</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Emergency records, imaging orders, and follow-up notes establish causation timelines insurers scrutinize. Keep a folder of every bill and clinical summary.</a:t>
            </a:r>
            <a:endParaRPr lang="en-US" sz="1300" dirty="0"/>
          </a:p>
          <a:p>
            <a:pPr indent="0" marL="0">
              <a:buNone/>
            </a:pPr>
            <a:endParaRPr lang="en-US" sz="1300" dirty="0"/>
          </a:p>
          <a:p>
            <a:pPr indent="0" marL="0">
              <a:buNone/>
            </a:pPr>
            <a:r>
              <a:rPr lang="en-US" sz="1300" dirty="0">
                <a:solidFill>
                  <a:srgbClr val="E8EDF4"/>
                </a:solidFill>
              </a:rPr>
              <a:t>Gaps in treatment are often mischaracterized as proof injuries resolved. Explain missed appointments and reschedule promptly with documented reasons.</a:t>
            </a:r>
            <a:endParaRPr lang="en-US" sz="1300" dirty="0"/>
          </a:p>
          <a:p>
            <a:pPr indent="0" marL="0">
              <a:buNone/>
            </a:pPr>
            <a:endParaRPr lang="en-US" sz="1300" dirty="0"/>
          </a:p>
          <a:p>
            <a:pPr indent="0" marL="0">
              <a:buNone/>
            </a:pPr>
            <a:r>
              <a:rPr lang="en-US" sz="1300" dirty="0">
                <a:solidFill>
                  <a:srgbClr val="E8EDF4"/>
                </a:solidFill>
              </a:rPr>
              <a:t>Pain journals noting sleep disruption, mobility limits, and missed work help attorneys translate symptoms into measurable damages.</a:t>
            </a:r>
            <a:endParaRPr lang="en-US" sz="1300" dirty="0"/>
          </a:p>
          <a:p>
            <a:pPr indent="0" marL="0">
              <a:buNone/>
            </a:pPr>
            <a:endParaRPr lang="en-US" sz="1300" dirty="0"/>
          </a:p>
          <a:p>
            <a:pPr indent="0" marL="0">
              <a:buNone/>
            </a:pPr>
            <a:r>
              <a:rPr lang="en-US" sz="1300" dirty="0">
                <a:solidFill>
                  <a:srgbClr val="E8EDF4"/>
                </a:solidFill>
              </a:rPr>
              <a:t>Bobby Garcia Law coordinates records requests so Killeen clients can focus on recovery instead of chasing hospital billing departments.</a:t>
            </a:r>
            <a:endParaRPr lang="en-US" sz="13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Negotiation strategy for Killeen claims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Initial offers rarely reflect full medical specials, future care, and wage loss. Build a demand package with organized exhibits before serious talks begin.</a:t>
            </a:r>
            <a:endParaRPr lang="en-US" sz="1300" dirty="0"/>
          </a:p>
          <a:p>
            <a:pPr indent="0" marL="0">
              <a:buNone/>
            </a:pPr>
            <a:endParaRPr lang="en-US" sz="1300" dirty="0"/>
          </a:p>
          <a:p>
            <a:pPr indent="0" marL="0">
              <a:buNone/>
            </a:pPr>
            <a:r>
              <a:rPr lang="en-US" sz="1300" dirty="0">
                <a:solidFill>
                  <a:srgbClr val="E8EDF4"/>
                </a:solidFill>
              </a:rPr>
              <a:t>Statute-of-limitations deadlines and policy limits shape leverage. Identify all liable parties early—including employers, vendors, and municipal actors when applicable.</a:t>
            </a:r>
            <a:endParaRPr lang="en-US" sz="1300" dirty="0"/>
          </a:p>
          <a:p>
            <a:pPr indent="0" marL="0">
              <a:buNone/>
            </a:pPr>
            <a:endParaRPr lang="en-US" sz="1300" dirty="0"/>
          </a:p>
          <a:p>
            <a:pPr indent="0" marL="0">
              <a:buNone/>
            </a:pPr>
            <a:r>
              <a:rPr lang="en-US" sz="1300" dirty="0">
                <a:solidFill>
                  <a:srgbClr val="E8EDF4"/>
                </a:solidFill>
              </a:rPr>
              <a:t>Mediation can resolve Killeen disputes without trial, but only when your file is trial-ready. Weak documentation invites low final numbers.</a:t>
            </a:r>
            <a:endParaRPr lang="en-US" sz="1300" dirty="0"/>
          </a:p>
          <a:p>
            <a:pPr indent="0" marL="0">
              <a:buNone/>
            </a:pPr>
            <a:endParaRPr lang="en-US" sz="1300" dirty="0"/>
          </a:p>
          <a:p>
            <a:pPr indent="0" marL="0">
              <a:buNone/>
            </a:pPr>
            <a:r>
              <a:rPr lang="en-US" sz="1300" dirty="0">
                <a:solidFill>
                  <a:srgbClr val="E8EDF4"/>
                </a:solidFill>
              </a:rPr>
              <a:t>Our team prepares every Killeen matter as if a jury will decide it, which improves settlement posture throughout the process.</a:t>
            </a:r>
            <a:endParaRPr lang="en-US" sz="13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Trial readiness for serious Killeen cases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Deposition summaries, exhibit lists, and witness outlines distinguish prepared trial teams from paper-file practices.</a:t>
            </a:r>
            <a:endParaRPr lang="en-US" sz="1300" dirty="0"/>
          </a:p>
          <a:p>
            <a:pPr indent="0" marL="0">
              <a:buNone/>
            </a:pPr>
            <a:endParaRPr lang="en-US" sz="1300" dirty="0"/>
          </a:p>
          <a:p>
            <a:pPr indent="0" marL="0">
              <a:buNone/>
            </a:pPr>
            <a:r>
              <a:rPr lang="en-US" sz="1300" dirty="0">
                <a:solidFill>
                  <a:srgbClr val="E8EDF4"/>
                </a:solidFill>
              </a:rPr>
              <a:t>Accident reconstruction, biomechanical opinions, and treating-physician testimony can be essential when liability or damages are contested.</a:t>
            </a:r>
            <a:endParaRPr lang="en-US" sz="1300" dirty="0"/>
          </a:p>
          <a:p>
            <a:pPr indent="0" marL="0">
              <a:buNone/>
            </a:pPr>
            <a:endParaRPr lang="en-US" sz="1300" dirty="0"/>
          </a:p>
          <a:p>
            <a:pPr indent="0" marL="0">
              <a:buNone/>
            </a:pPr>
            <a:r>
              <a:rPr lang="en-US" sz="1300" dirty="0">
                <a:solidFill>
                  <a:srgbClr val="E8EDF4"/>
                </a:solidFill>
              </a:rPr>
              <a:t>Venue rules and jury pools in Texas vary by county. Early case assessment should account for local attitudes toward injury claims.</a:t>
            </a:r>
            <a:endParaRPr lang="en-US" sz="1300" dirty="0"/>
          </a:p>
          <a:p>
            <a:pPr indent="0" marL="0">
              <a:buNone/>
            </a:pPr>
            <a:endParaRPr lang="en-US" sz="1300" dirty="0"/>
          </a:p>
          <a:p>
            <a:pPr indent="0" marL="0">
              <a:buNone/>
            </a:pPr>
            <a:r>
              <a:rPr lang="en-US" sz="1300" dirty="0">
                <a:solidFill>
                  <a:srgbClr val="E8EDF4"/>
                </a:solidFill>
              </a:rPr>
              <a:t>If settlement talks stall, Bobby Garcia Law is prepared to present your Killeen case clearly before a judge and jury.</a:t>
            </a:r>
            <a:endParaRPr lang="en-US" sz="13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Killeen crash investigation checklist (part 9)</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Killeen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Killeen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Killeen corridors—these facts often appear only on the first report draft.</a:t>
            </a:r>
            <a:endParaRPr lang="en-US" sz="1300" dirty="0"/>
          </a:p>
          <a:p>
            <a:pPr indent="0" marL="0">
              <a:buNone/>
            </a:pPr>
            <a:endParaRPr lang="en-US" sz="1300" dirty="0"/>
          </a:p>
          <a:p>
            <a:pPr indent="0" marL="0">
              <a:buNone/>
            </a:pPr>
            <a:r>
              <a:rPr lang="en-US" sz="1300" dirty="0">
                <a:solidFill>
                  <a:srgbClr val="E8EDF4"/>
                </a:solidFill>
              </a:rPr>
              <a:t>Witness names and phone numbers fade quickly. Collect contact information at the scene and follow up within 48 hours while memories are fresh.</a:t>
            </a:r>
            <a:endParaRPr lang="en-US" sz="13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Insurance coverage review for Killeen families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Declarations pages list BI, PD, UM/UIM, MedPay, and PIP. Many Killeen households discover usable coverage only after a thorough review with counsel.</a:t>
            </a:r>
            <a:endParaRPr lang="en-US" sz="1300" dirty="0"/>
          </a:p>
          <a:p>
            <a:pPr indent="0" marL="0">
              <a:buNone/>
            </a:pPr>
            <a:endParaRPr lang="en-US" sz="1300" dirty="0"/>
          </a:p>
          <a:p>
            <a:pPr indent="0" marL="0">
              <a:buNone/>
            </a:pPr>
            <a:r>
              <a:rPr lang="en-US" sz="1300" dirty="0">
                <a:solidFill>
                  <a:srgbClr val="E8EDF4"/>
                </a:solidFill>
              </a:rPr>
              <a:t>Stacking rules, household exclusions, and named-driver endorsements change outcomes. Do not assume the adjuster's first explanation is complete.</a:t>
            </a:r>
            <a:endParaRPr lang="en-US" sz="1300" dirty="0"/>
          </a:p>
          <a:p>
            <a:pPr indent="0" marL="0">
              <a:buNone/>
            </a:pPr>
            <a:endParaRPr lang="en-US" sz="1300" dirty="0"/>
          </a:p>
          <a:p>
            <a:pPr indent="0" marL="0">
              <a:buNone/>
            </a:pPr>
            <a:r>
              <a:rPr lang="en-US" sz="1300" dirty="0">
                <a:solidFill>
                  <a:srgbClr val="E8EDF4"/>
                </a:solidFill>
              </a:rPr>
              <a:t>Call Bobby Garcia Law at (956) 668-7400 for a free review of how Texas policies interact after a Killeen collision.</a:t>
            </a:r>
            <a:endParaRPr lang="en-US" sz="1300" dirty="0"/>
          </a:p>
          <a:p>
            <a:pPr indent="0" marL="0">
              <a:buNone/>
            </a:pPr>
            <a:endParaRPr lang="en-US" sz="1300" dirty="0"/>
          </a:p>
          <a:p>
            <a:pPr indent="0" marL="0">
              <a:buNone/>
            </a:pPr>
            <a:r>
              <a:rPr lang="en-US" sz="1300" dirty="0">
                <a:solidFill>
                  <a:srgbClr val="E8EDF4"/>
                </a:solidFill>
              </a:rPr>
              <a:t>Subrogation letters and lien notices can reduce net recovery if not negotiated early. Identify health-plan and ER lien holders before settling.</a:t>
            </a:r>
            <a:endParaRPr lang="en-US" sz="13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Long-term recovery planning in Killeen</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Serious injuries require vocational planning, home modifications, and future medical cost projections—not just current bills.</a:t>
            </a:r>
            <a:endParaRPr lang="en-US" sz="1300" dirty="0"/>
          </a:p>
          <a:p>
            <a:pPr indent="0" marL="0">
              <a:buNone/>
            </a:pPr>
            <a:endParaRPr lang="en-US" sz="1300" dirty="0"/>
          </a:p>
          <a:p>
            <a:pPr indent="0" marL="0">
              <a:buNone/>
            </a:pPr>
            <a:r>
              <a:rPr lang="en-US" sz="1300" dirty="0">
                <a:solidFill>
                  <a:srgbClr val="E8EDF4"/>
                </a:solidFill>
              </a:rPr>
              <a:t>Economists and life-care planners quantify damages when Killeen cases involve permanent limitations. Start documenting limitations in daily journals early.</a:t>
            </a:r>
            <a:endParaRPr lang="en-US" sz="1300" dirty="0"/>
          </a:p>
          <a:p>
            <a:pPr indent="0" marL="0">
              <a:buNone/>
            </a:pPr>
            <a:endParaRPr lang="en-US" sz="1300" dirty="0"/>
          </a:p>
          <a:p>
            <a:pPr indent="0" marL="0">
              <a:buNone/>
            </a:pPr>
            <a:r>
              <a:rPr lang="en-US" sz="1300" dirty="0">
                <a:solidFill>
                  <a:srgbClr val="E8EDF4"/>
                </a:solidFill>
              </a:rPr>
              <a:t>School and employer accommodations may be legally required while you heal. Request written plans instead of informal verbal promises.</a:t>
            </a:r>
            <a:endParaRPr lang="en-US" sz="1300" dirty="0"/>
          </a:p>
          <a:p>
            <a:pPr indent="0" marL="0">
              <a:buNone/>
            </a:pPr>
            <a:endParaRPr lang="en-US" sz="1300" dirty="0"/>
          </a:p>
          <a:p>
            <a:pPr indent="0" marL="0">
              <a:buNone/>
            </a:pPr>
            <a:r>
              <a:rPr lang="en-US" sz="1300" dirty="0">
                <a:solidFill>
                  <a:srgbClr val="E8EDF4"/>
                </a:solidFill>
              </a:rPr>
              <a:t>Educational information from the Law Office of Bobby Garcia, P.C. — not legal advice. Consult a licensed Texas attorney about your specific case.</a:t>
            </a:r>
            <a:endParaRPr lang="en-US" sz="13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Medical documentation after a Killeen injury</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Emergency records, imaging orders, and follow-up notes establish causation timelines insurers scrutinize. Keep a folder of every bill and clinical summary.</a:t>
            </a:r>
            <a:endParaRPr lang="en-US" sz="1300" dirty="0"/>
          </a:p>
          <a:p>
            <a:pPr indent="0" marL="0">
              <a:buNone/>
            </a:pPr>
            <a:endParaRPr lang="en-US" sz="1300" dirty="0"/>
          </a:p>
          <a:p>
            <a:pPr indent="0" marL="0">
              <a:buNone/>
            </a:pPr>
            <a:r>
              <a:rPr lang="en-US" sz="1300" dirty="0">
                <a:solidFill>
                  <a:srgbClr val="E8EDF4"/>
                </a:solidFill>
              </a:rPr>
              <a:t>Gaps in treatment are often mischaracterized as proof injuries resolved. Explain missed appointments and reschedule promptly with documented reasons.</a:t>
            </a:r>
            <a:endParaRPr lang="en-US" sz="1300" dirty="0"/>
          </a:p>
          <a:p>
            <a:pPr indent="0" marL="0">
              <a:buNone/>
            </a:pPr>
            <a:endParaRPr lang="en-US" sz="1300" dirty="0"/>
          </a:p>
          <a:p>
            <a:pPr indent="0" marL="0">
              <a:buNone/>
            </a:pPr>
            <a:r>
              <a:rPr lang="en-US" sz="1300" dirty="0">
                <a:solidFill>
                  <a:srgbClr val="E8EDF4"/>
                </a:solidFill>
              </a:rPr>
              <a:t>Pain journals noting sleep disruption, mobility limits, and missed work help attorneys translate symptoms into measurable damages.</a:t>
            </a:r>
            <a:endParaRPr lang="en-US" sz="1300" dirty="0"/>
          </a:p>
          <a:p>
            <a:pPr indent="0" marL="0">
              <a:buNone/>
            </a:pPr>
            <a:endParaRPr lang="en-US" sz="1300" dirty="0"/>
          </a:p>
          <a:p>
            <a:pPr indent="0" marL="0">
              <a:buNone/>
            </a:pPr>
            <a:r>
              <a:rPr lang="en-US" sz="1300" dirty="0">
                <a:solidFill>
                  <a:srgbClr val="E8EDF4"/>
                </a:solidFill>
              </a:rPr>
              <a:t>Bobby Garcia Law coordinates records requests so Killeen clients can focus on recovery instead of chasing hospital billing departments.</a:t>
            </a:r>
            <a:endParaRPr lang="en-US" sz="13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Negotiation strategy for Killeen claims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Initial offers rarely reflect full medical specials, future care, and wage loss. Build a demand package with organized exhibits before serious talks begin.</a:t>
            </a:r>
            <a:endParaRPr lang="en-US" sz="1300" dirty="0"/>
          </a:p>
          <a:p>
            <a:pPr indent="0" marL="0">
              <a:buNone/>
            </a:pPr>
            <a:endParaRPr lang="en-US" sz="1300" dirty="0"/>
          </a:p>
          <a:p>
            <a:pPr indent="0" marL="0">
              <a:buNone/>
            </a:pPr>
            <a:r>
              <a:rPr lang="en-US" sz="1300" dirty="0">
                <a:solidFill>
                  <a:srgbClr val="E8EDF4"/>
                </a:solidFill>
              </a:rPr>
              <a:t>Statute-of-limitations deadlines and policy limits shape leverage. Identify all liable parties early—including employers, vendors, and municipal actors when applicable.</a:t>
            </a:r>
            <a:endParaRPr lang="en-US" sz="1300" dirty="0"/>
          </a:p>
          <a:p>
            <a:pPr indent="0" marL="0">
              <a:buNone/>
            </a:pPr>
            <a:endParaRPr lang="en-US" sz="1300" dirty="0"/>
          </a:p>
          <a:p>
            <a:pPr indent="0" marL="0">
              <a:buNone/>
            </a:pPr>
            <a:r>
              <a:rPr lang="en-US" sz="1300" dirty="0">
                <a:solidFill>
                  <a:srgbClr val="E8EDF4"/>
                </a:solidFill>
              </a:rPr>
              <a:t>Mediation can resolve Killeen disputes without trial, but only when your file is trial-ready. Weak documentation invites low final numbers.</a:t>
            </a:r>
            <a:endParaRPr lang="en-US" sz="1300" dirty="0"/>
          </a:p>
          <a:p>
            <a:pPr indent="0" marL="0">
              <a:buNone/>
            </a:pPr>
            <a:endParaRPr lang="en-US" sz="1300" dirty="0"/>
          </a:p>
          <a:p>
            <a:pPr indent="0" marL="0">
              <a:buNone/>
            </a:pPr>
            <a:r>
              <a:rPr lang="en-US" sz="1300" dirty="0">
                <a:solidFill>
                  <a:srgbClr val="E8EDF4"/>
                </a:solidFill>
              </a:rPr>
              <a:t>Our team prepares every Killeen matter as if a jury will decide it, which improves settlement posture throughout the process.</a:t>
            </a:r>
            <a:endParaRPr lang="en-US" sz="13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Is this legal advice for my Killeen case?</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No. This is general education from Law Office of Bobby Garcia, P.C., a  Consult a licensed attorney for advice about your situation.</a:t>
            </a:r>
            <a:endParaRPr lang="en-US" sz="13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What is the statute of limitations in Texas?</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Most injury claims face a 2-year deadline, but exceptions apply. Verify your dates with counsel.</a:t>
            </a:r>
            <a:endParaRPr lang="en-US" sz="13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Should I give a recorded statement to insurance after a Killeen crash?</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Generally, provide basic facts only until you understand injuries and coverage. Recorded statements can be used against you—consult counsel before agreeing.</a:t>
            </a:r>
            <a:endParaRPr lang="en-US" sz="13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What does no win, no fee mean?</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On qualifying personal injury cases, Bobby Garcia Law typically works on contingency—you owe no attorney fee unless we recover compensation. Confirm terms in your fee agreement.</a:t>
            </a:r>
            <a:endParaRPr lang="en-US" sz="13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How long do I have to file in Texas after a Killeen accident?</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Most injury claims face a two-year statute of limitations, but exceptions apply for minors, government entities, and wrongful death. Verify your dates immediately.</a:t>
            </a:r>
            <a:endParaRPr lang="en-US" sz="13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Does Bobby Garcia Law handle Spanish-speaking clients?</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Yes. Our team is fully bilingual—English and Español—24 hours a day, seven days a week.</a:t>
            </a:r>
            <a:endParaRPr lang="en-US" sz="13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Where are Bobby Garcia Law offices?</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5301 S McColl Rd, Edinburg, TX (Rio Grande Valley) and 16610 IH 45 South, Ste 200, The Woodlands, TX (Houston area).</a:t>
            </a:r>
            <a:endParaRPr lang="en-US" sz="13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1371600"/>
            <a:ext cx="8229600" cy="731520"/>
          </a:xfrm>
          <a:prstGeom prst="rect">
            <a:avLst/>
          </a:prstGeom>
          <a:noFill/>
          <a:ln/>
        </p:spPr>
        <p:txBody>
          <a:bodyPr wrap="square" rtlCol="0" anchor="ctr"/>
          <a:lstStyle/>
          <a:p>
            <a:pPr algn="ctr" indent="0" marL="0">
              <a:buNone/>
            </a:pPr>
            <a:r>
              <a:rPr lang="en-US" sz="2800" b="1" dirty="0">
                <a:solidFill>
                  <a:srgbClr val="FFFFFF"/>
                </a:solidFill>
              </a:rPr>
              <a:t>Free consultation 24/7</a:t>
            </a:r>
            <a:endParaRPr lang="en-US" sz="2800" dirty="0"/>
          </a:p>
        </p:txBody>
      </p:sp>
      <p:sp>
        <p:nvSpPr>
          <p:cNvPr id="3" name="Text 1"/>
          <p:cNvSpPr/>
          <p:nvPr/>
        </p:nvSpPr>
        <p:spPr>
          <a:xfrm>
            <a:off x="457200" y="2286000"/>
            <a:ext cx="8229600" cy="731520"/>
          </a:xfrm>
          <a:prstGeom prst="rect">
            <a:avLst/>
          </a:prstGeom>
          <a:noFill/>
          <a:ln/>
        </p:spPr>
        <p:txBody>
          <a:bodyPr wrap="square" rtlCol="0" anchor="ctr"/>
          <a:lstStyle/>
          <a:p>
            <a:pPr algn="ctr" indent="0" marL="0">
              <a:buNone/>
            </a:pPr>
            <a:r>
              <a:rPr lang="en-US" sz="3200" b="1" dirty="0">
                <a:solidFill>
                  <a:srgbClr val="C9A227"/>
                </a:solidFill>
              </a:rPr>
              <a:t>(956) 668-7400</a:t>
            </a:r>
            <a:endParaRPr lang="en-US" sz="3200" dirty="0"/>
          </a:p>
        </p:txBody>
      </p:sp>
      <p:sp>
        <p:nvSpPr>
          <p:cNvPr id="4" name="Text 2"/>
          <p:cNvSpPr/>
          <p:nvPr/>
        </p:nvSpPr>
        <p:spPr>
          <a:xfrm>
            <a:off x="457200" y="3200400"/>
            <a:ext cx="8229600" cy="457200"/>
          </a:xfrm>
          <a:prstGeom prst="rect">
            <a:avLst/>
          </a:prstGeom>
          <a:noFill/>
          <a:ln/>
        </p:spPr>
        <p:txBody>
          <a:bodyPr wrap="square" rtlCol="0" anchor="ctr"/>
          <a:lstStyle/>
          <a:p>
            <a:pPr algn="ctr" indent="0" marL="0">
              <a:buNone/>
            </a:pPr>
            <a:r>
              <a:rPr lang="en-US" sz="1400" dirty="0">
                <a:solidFill>
                  <a:srgbClr val="B8C4D4"/>
                </a:solidFill>
              </a:rPr>
              <a:t>Bobby Garcia Law · English &amp; Español</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51</Slides>
  <Notes>51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51</vt:i4>
      </vt:variant>
    </vt:vector>
  </HeadingPairs>
  <TitlesOfParts>
    <vt:vector size="5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Killeen</dc:title>
  <dc:subject>PptxGenJS Presentation</dc:subject>
  <dc:creator>Law Office of Bobby Garcia</dc:creator>
  <cp:lastModifiedBy>Law Office of Bobby Garcia</cp:lastModifiedBy>
  <cp:revision>1</cp:revision>
  <dcterms:created xsi:type="dcterms:W3CDTF">2026-06-02T21:39:49Z</dcterms:created>
  <dcterms:modified xsi:type="dcterms:W3CDTF">2026-06-02T21:39:49Z</dcterms:modified>
</cp:coreProperties>
</file>